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Quattrocento Sans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5775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jfFAg1sXzdCjzjZnfCOCi8DAm9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57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22" Type="http://schemas.openxmlformats.org/officeDocument/2006/relationships/font" Target="fonts/QuattrocentoSans-italic.fntdata"/><Relationship Id="rId21" Type="http://schemas.openxmlformats.org/officeDocument/2006/relationships/font" Target="fonts/QuattrocentoSans-bold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8" Type="http://customschemas.google.com/relationships/presentationmetadata" Target="meta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0815dc38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220815dc38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220815dc38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b537e3c8c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2fb537e3c8c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2fb537e3c8c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33f12e6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9633f12e6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9633f12e6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33f12e6f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9633f12e6f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9633f12e6f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633f12e6f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633f12e6f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CO" sz="1100">
                <a:latin typeface="Quattrocento Sans"/>
                <a:ea typeface="Quattrocento Sans"/>
                <a:cs typeface="Quattrocento Sans"/>
                <a:sym typeface="Quattrocento Sans"/>
              </a:rPr>
              <a:t>El modelo adicionalmente se regulariza con los crossplots entre diferentes registros de pozo que deben seguir comportamientos establecidos.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700"/>
          </a:p>
        </p:txBody>
      </p:sp>
      <p:sp>
        <p:nvSpPr>
          <p:cNvPr id="124" name="Google Shape;124;g39633f12e6f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33f12e6f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9633f12e6f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9633f12e6f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33f12e6f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9633f12e6f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Aqui resaltar las habilidades de desarrollo de software. Creo que necesitamos mas de Arley aqui.</a:t>
            </a:r>
            <a:endParaRPr/>
          </a:p>
        </p:txBody>
      </p:sp>
      <p:sp>
        <p:nvSpPr>
          <p:cNvPr id="160" name="Google Shape;160;g39633f12e6f_0_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633f12e6f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9633f12e6f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9633f12e6f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633f12e6f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633f12e6f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9633f12e6f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633f12e6f_0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9633f12e6f_0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9633f12e6f_0_2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1a2e33bc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e1a2e33bc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e1a2e33bc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fb537e3c8c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2fb537e3c8c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2fb537e3c8c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e1ebe5c2a6_1_6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1e1ebe5c2a6_1_6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g1e1ebe5c2a6_1_6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1ebe5c2a6_1_6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1e1ebe5c2a6_1_6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e1ebe5c2a6_1_6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1e1ebe5c2a6_1_60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g1e1ebe5c2a6_1_6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1e1ebe5c2a6_1_6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1e1ebe5c2a6_1_6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e1ebe5c2a6_1_619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1e1ebe5c2a6_1_619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1e1ebe5c2a6_1_6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1e1ebe5c2a6_1_6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1e1ebe5c2a6_1_6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1ebe5c2a6_1_6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1e1ebe5c2a6_1_62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1e1ebe5c2a6_1_62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1e1ebe5c2a6_1_6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1e1ebe5c2a6_1_6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1e1ebe5c2a6_1_6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1ebe5c2a6_1_632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1e1ebe5c2a6_1_632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1e1ebe5c2a6_1_632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g1e1ebe5c2a6_1_632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1e1ebe5c2a6_1_632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g1e1ebe5c2a6_1_6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1e1ebe5c2a6_1_6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1e1ebe5c2a6_1_6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e1ebe5c2a6_1_6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1e1ebe5c2a6_1_6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1e1ebe5c2a6_1_6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1e1ebe5c2a6_1_6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1ebe5c2a6_1_64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1e1ebe5c2a6_1_646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1e1ebe5c2a6_1_646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g1e1ebe5c2a6_1_6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1e1ebe5c2a6_1_6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1e1ebe5c2a6_1_6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e1ebe5c2a6_1_65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1e1ebe5c2a6_1_65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1e1ebe5c2a6_1_65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g1e1ebe5c2a6_1_65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1e1ebe5c2a6_1_65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1e1ebe5c2a6_1_6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1ebe5c2a6_1_6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1e1ebe5c2a6_1_66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1e1ebe5c2a6_1_6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1e1ebe5c2a6_1_6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1e1ebe5c2a6_1_6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e1ebe5c2a6_1_66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1e1ebe5c2a6_1_66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1e1ebe5c2a6_1_6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1e1ebe5c2a6_1_6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1e1ebe5c2a6_1_6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1ebe5c2a6_1_59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1e1ebe5c2a6_1_59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1e1ebe5c2a6_1_59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1e1ebe5c2a6_1_59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1e1ebe5c2a6_1_5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220815dc383_0_0"/>
          <p:cNvPicPr preferRelativeResize="0"/>
          <p:nvPr/>
        </p:nvPicPr>
        <p:blipFill rotWithShape="1">
          <a:blip r:embed="rId3">
            <a:alphaModFix/>
          </a:blip>
          <a:srcRect b="19429" l="30000" r="29900" t="19704"/>
          <a:stretch/>
        </p:blipFill>
        <p:spPr>
          <a:xfrm>
            <a:off x="3657600" y="1414272"/>
            <a:ext cx="4888992" cy="404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19429" l="30000" r="29900" t="19704"/>
          <a:stretch/>
        </p:blipFill>
        <p:spPr>
          <a:xfrm>
            <a:off x="10911840" y="0"/>
            <a:ext cx="1280160" cy="105988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437700" y="2043875"/>
            <a:ext cx="113166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>
                <a:solidFill>
                  <a:schemeClr val="lt1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Somos una empresa de </a:t>
            </a:r>
            <a:r>
              <a:rPr b="1" lang="es-CO" sz="2200">
                <a:solidFill>
                  <a:schemeClr val="lt1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base científica y tecnológica</a:t>
            </a:r>
            <a:r>
              <a:rPr lang="es-CO" sz="2200">
                <a:solidFill>
                  <a:schemeClr val="lt1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especializada en la convergencia de modelos físicos complejos, matemáticas aplicadas y aprendizaje profundo (Deep Learning) para el sector energético.</a:t>
            </a:r>
            <a:endParaRPr sz="2200">
              <a:solidFill>
                <a:schemeClr val="lt1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6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es-CO" sz="2200">
                <a:solidFill>
                  <a:schemeClr val="lt1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Nuestra analítica avanzada extrae valor oculto en terabytes de datos de sensores y yacimientos, facilitando </a:t>
            </a:r>
            <a:r>
              <a:rPr lang="es-CO" sz="2200">
                <a:solidFill>
                  <a:schemeClr val="lt1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visuales complejas</a:t>
            </a:r>
            <a:r>
              <a:rPr lang="es-CO" sz="2200">
                <a:solidFill>
                  <a:schemeClr val="lt1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2200">
              <a:solidFill>
                <a:schemeClr val="lt1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172550" y="6156150"/>
            <a:ext cx="827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rgbClr val="00E5FF"/>
                </a:solidFill>
                <a:highlight>
                  <a:srgbClr val="070B14"/>
                </a:highlight>
              </a:rPr>
              <a:t>Decisiones precisas impulsadas por modelos de base científica</a:t>
            </a:r>
            <a:endParaRPr sz="1700"/>
          </a:p>
        </p:txBody>
      </p:sp>
      <p:sp>
        <p:nvSpPr>
          <p:cNvPr id="94" name="Google Shape;94;p1"/>
          <p:cNvSpPr txBox="1"/>
          <p:nvPr/>
        </p:nvSpPr>
        <p:spPr>
          <a:xfrm>
            <a:off x="115975" y="242775"/>
            <a:ext cx="83544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Quiénes somos…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fb537e3c8c_0_186"/>
          <p:cNvPicPr preferRelativeResize="0"/>
          <p:nvPr/>
        </p:nvPicPr>
        <p:blipFill rotWithShape="1">
          <a:blip r:embed="rId3">
            <a:alphaModFix/>
          </a:blip>
          <a:srcRect b="19429" l="30000" r="29900" t="19704"/>
          <a:stretch/>
        </p:blipFill>
        <p:spPr>
          <a:xfrm>
            <a:off x="10911840" y="43497"/>
            <a:ext cx="1280161" cy="1059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fb537e3c8c_0_186"/>
          <p:cNvSpPr txBox="1"/>
          <p:nvPr/>
        </p:nvSpPr>
        <p:spPr>
          <a:xfrm>
            <a:off x="962525" y="1844825"/>
            <a:ext cx="104943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50">
                <a:solidFill>
                  <a:srgbClr val="F8FAFC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Inteligencia Artificial </a:t>
            </a:r>
            <a:endParaRPr sz="5050">
              <a:solidFill>
                <a:srgbClr val="F8FAFC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50">
                <a:solidFill>
                  <a:srgbClr val="F8FAFC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para </a:t>
            </a:r>
            <a:r>
              <a:rPr lang="es-CO" sz="50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Oil &amp; Gas</a:t>
            </a:r>
            <a:endParaRPr sz="5050">
              <a:solidFill>
                <a:srgbClr val="00E5FF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g2fb537e3c8c_0_186"/>
          <p:cNvSpPr txBox="1"/>
          <p:nvPr/>
        </p:nvSpPr>
        <p:spPr>
          <a:xfrm>
            <a:off x="2172550" y="6156150"/>
            <a:ext cx="827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rgbClr val="00E5FF"/>
                </a:solidFill>
                <a:highlight>
                  <a:srgbClr val="070B14"/>
                </a:highlight>
              </a:rPr>
              <a:t>Decisiones precisas impulsadas por modelos de base científica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9633f12e6f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9633f12e6f_0_14"/>
          <p:cNvSpPr/>
          <p:nvPr/>
        </p:nvSpPr>
        <p:spPr>
          <a:xfrm>
            <a:off x="2633775" y="5065000"/>
            <a:ext cx="8301600" cy="1667400"/>
          </a:xfrm>
          <a:prstGeom prst="rect">
            <a:avLst/>
          </a:prstGeom>
          <a:solidFill>
            <a:srgbClr val="0F190A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CO" sz="28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ASESORÍA CIENTÍFICA EN IMÁGENES SATELITALES ESPECTRALES PARA ESTIMACIÓN DE VOLÚMENES DE MATERIAL EN CANTERA</a:t>
            </a:r>
            <a:r>
              <a:rPr b="0" i="0" lang="es-CO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39633f12e6f_0_14" title="WAVEDATA WHITE.png"/>
          <p:cNvPicPr preferRelativeResize="0"/>
          <p:nvPr/>
        </p:nvPicPr>
        <p:blipFill rotWithShape="1">
          <a:blip r:embed="rId4">
            <a:alphaModFix/>
          </a:blip>
          <a:srcRect b="19899" l="28840" r="30060" t="19395"/>
          <a:stretch/>
        </p:blipFill>
        <p:spPr>
          <a:xfrm>
            <a:off x="10534500" y="0"/>
            <a:ext cx="1657501" cy="1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9633f12e6f_0_14" title="mansarovar.png"/>
          <p:cNvPicPr preferRelativeResize="0"/>
          <p:nvPr/>
        </p:nvPicPr>
        <p:blipFill rotWithShape="1">
          <a:blip r:embed="rId5">
            <a:alphaModFix/>
          </a:blip>
          <a:srcRect b="31397" l="13852" r="16155" t="4066"/>
          <a:stretch/>
        </p:blipFill>
        <p:spPr>
          <a:xfrm>
            <a:off x="0" y="5183777"/>
            <a:ext cx="2120674" cy="16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9633f12e6f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9633f12e6f_0_108"/>
          <p:cNvSpPr/>
          <p:nvPr/>
        </p:nvSpPr>
        <p:spPr>
          <a:xfrm>
            <a:off x="1075825" y="2601100"/>
            <a:ext cx="6162000" cy="1654800"/>
          </a:xfrm>
          <a:prstGeom prst="rect">
            <a:avLst/>
          </a:prstGeom>
          <a:solidFill>
            <a:srgbClr val="0F19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0" i="0" lang="es-CO" sz="26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ALGORITMO DE  INTELIGENCIA ARTIFICIAL  PARA LA CORRECCIÓN POZO</a:t>
            </a:r>
            <a:r>
              <a:rPr b="0" i="0" lang="es-CO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5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9633f12e6f_0_108"/>
          <p:cNvSpPr/>
          <p:nvPr/>
        </p:nvSpPr>
        <p:spPr>
          <a:xfrm>
            <a:off x="1075825" y="5706850"/>
            <a:ext cx="913500" cy="309300"/>
          </a:xfrm>
          <a:prstGeom prst="rect">
            <a:avLst/>
          </a:prstGeom>
          <a:solidFill>
            <a:srgbClr val="121B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9633f12e6f_0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7700" y="5245750"/>
            <a:ext cx="2744402" cy="123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633f12e6f_0_116"/>
          <p:cNvSpPr txBox="1"/>
          <p:nvPr>
            <p:ph type="ctrTitle"/>
          </p:nvPr>
        </p:nvSpPr>
        <p:spPr>
          <a:xfrm>
            <a:off x="2112075" y="251400"/>
            <a:ext cx="8787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7"/>
              <a:buFont typeface="Arial"/>
              <a:buNone/>
            </a:pPr>
            <a:r>
              <a:rPr b="1" lang="es-CO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 de inteligencia artificial para la corrección de pozos</a:t>
            </a:r>
            <a:endParaRPr b="1" sz="3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g39633f12e6f_0_116"/>
          <p:cNvSpPr/>
          <p:nvPr/>
        </p:nvSpPr>
        <p:spPr>
          <a:xfrm>
            <a:off x="2166355" y="1111192"/>
            <a:ext cx="5218500" cy="3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9633f12e6f_0_116"/>
          <p:cNvSpPr/>
          <p:nvPr/>
        </p:nvSpPr>
        <p:spPr>
          <a:xfrm>
            <a:off x="456463" y="3096406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g39633f12e6f_0_116"/>
          <p:cNvSpPr/>
          <p:nvPr/>
        </p:nvSpPr>
        <p:spPr>
          <a:xfrm>
            <a:off x="608243" y="3259452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130;g39633f12e6f_0_116"/>
          <p:cNvSpPr txBox="1"/>
          <p:nvPr/>
        </p:nvSpPr>
        <p:spPr>
          <a:xfrm>
            <a:off x="456449" y="3646325"/>
            <a:ext cx="2864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de corrección basado en análisis estadístico de registros que permite realizar una caracterización del ruido de badhole, que se usa como entrada al modelo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g39633f12e6f_0_116"/>
          <p:cNvCxnSpPr/>
          <p:nvPr/>
        </p:nvCxnSpPr>
        <p:spPr>
          <a:xfrm>
            <a:off x="926675" y="3404234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g39633f12e6f_0_116"/>
          <p:cNvSpPr/>
          <p:nvPr/>
        </p:nvSpPr>
        <p:spPr>
          <a:xfrm>
            <a:off x="418281" y="5190318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133;g39633f12e6f_0_116"/>
          <p:cNvSpPr/>
          <p:nvPr/>
        </p:nvSpPr>
        <p:spPr>
          <a:xfrm>
            <a:off x="570061" y="5353364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4" name="Google Shape;134;g39633f12e6f_0_116"/>
          <p:cNvCxnSpPr/>
          <p:nvPr/>
        </p:nvCxnSpPr>
        <p:spPr>
          <a:xfrm>
            <a:off x="888494" y="5498146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g39633f12e6f_0_116"/>
          <p:cNvSpPr txBox="1"/>
          <p:nvPr/>
        </p:nvSpPr>
        <p:spPr>
          <a:xfrm>
            <a:off x="488913" y="5665567"/>
            <a:ext cx="286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Capacidad de adaptación a diferentes pozos.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g39633f12e6f_0_116"/>
          <p:cNvSpPr/>
          <p:nvPr/>
        </p:nvSpPr>
        <p:spPr>
          <a:xfrm>
            <a:off x="453606" y="1682893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7" name="Google Shape;137;g39633f12e6f_0_116"/>
          <p:cNvSpPr/>
          <p:nvPr/>
        </p:nvSpPr>
        <p:spPr>
          <a:xfrm>
            <a:off x="605386" y="1845939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8" name="Google Shape;138;g39633f12e6f_0_116"/>
          <p:cNvCxnSpPr/>
          <p:nvPr/>
        </p:nvCxnSpPr>
        <p:spPr>
          <a:xfrm>
            <a:off x="923819" y="1990721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g39633f12e6f_0_116"/>
          <p:cNvSpPr txBox="1"/>
          <p:nvPr/>
        </p:nvSpPr>
        <p:spPr>
          <a:xfrm>
            <a:off x="524238" y="2234342"/>
            <a:ext cx="286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Múltiples registros de entrada: Sónico onda P y S, Densidad, Resistividad, entre otros. 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0" name="Google Shape;140;g39633f12e6f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7574" y="1622624"/>
            <a:ext cx="7374124" cy="4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9633f12e6f_0_116"/>
          <p:cNvPicPr preferRelativeResize="0"/>
          <p:nvPr/>
        </p:nvPicPr>
        <p:blipFill rotWithShape="1">
          <a:blip r:embed="rId4">
            <a:alphaModFix/>
          </a:blip>
          <a:srcRect b="19429" l="29998" r="29902" t="19703"/>
          <a:stretch/>
        </p:blipFill>
        <p:spPr>
          <a:xfrm>
            <a:off x="10911840" y="0"/>
            <a:ext cx="1280161" cy="105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633f12e6f_0_135"/>
          <p:cNvSpPr txBox="1"/>
          <p:nvPr>
            <p:ph type="ctrTitle"/>
          </p:nvPr>
        </p:nvSpPr>
        <p:spPr>
          <a:xfrm>
            <a:off x="2112075" y="251400"/>
            <a:ext cx="8787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Font typeface="Arial"/>
              <a:buNone/>
            </a:pPr>
            <a:r>
              <a:rPr b="1" lang="es-CO" sz="3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 de inteligencia artificial para la corrección de pozos</a:t>
            </a:r>
            <a:endParaRPr b="1" sz="348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g39633f12e6f_0_135"/>
          <p:cNvSpPr/>
          <p:nvPr/>
        </p:nvSpPr>
        <p:spPr>
          <a:xfrm>
            <a:off x="2166355" y="1111192"/>
            <a:ext cx="5218500" cy="3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9633f12e6f_0_135"/>
          <p:cNvPicPr preferRelativeResize="0"/>
          <p:nvPr/>
        </p:nvPicPr>
        <p:blipFill rotWithShape="1">
          <a:blip r:embed="rId3">
            <a:alphaModFix/>
          </a:blip>
          <a:srcRect b="0" l="32890" r="0" t="0"/>
          <a:stretch/>
        </p:blipFill>
        <p:spPr>
          <a:xfrm>
            <a:off x="8334375" y="2881000"/>
            <a:ext cx="3688002" cy="160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9633f12e6f_0_135"/>
          <p:cNvPicPr preferRelativeResize="0"/>
          <p:nvPr/>
        </p:nvPicPr>
        <p:blipFill rotWithShape="1">
          <a:blip r:embed="rId4">
            <a:alphaModFix/>
          </a:blip>
          <a:srcRect b="0" l="33497" r="0" t="0"/>
          <a:stretch/>
        </p:blipFill>
        <p:spPr>
          <a:xfrm>
            <a:off x="8334375" y="4578275"/>
            <a:ext cx="3688002" cy="162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9633f12e6f_0_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00" y="1819150"/>
            <a:ext cx="7936250" cy="49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9633f12e6f_0_135"/>
          <p:cNvSpPr/>
          <p:nvPr/>
        </p:nvSpPr>
        <p:spPr>
          <a:xfrm>
            <a:off x="394100" y="2239000"/>
            <a:ext cx="7480500" cy="40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9633f12e6f_0_135"/>
          <p:cNvSpPr txBox="1"/>
          <p:nvPr/>
        </p:nvSpPr>
        <p:spPr>
          <a:xfrm>
            <a:off x="76200" y="1368525"/>
            <a:ext cx="793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O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Resultados: Registros estimados en zonas de badhole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9633f12e6f_0_135"/>
          <p:cNvSpPr txBox="1"/>
          <p:nvPr/>
        </p:nvSpPr>
        <p:spPr>
          <a:xfrm>
            <a:off x="8084375" y="2110900"/>
            <a:ext cx="4188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O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correcciones mediante crossplots entre 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9633f12e6f_0_135"/>
          <p:cNvSpPr/>
          <p:nvPr/>
        </p:nvSpPr>
        <p:spPr>
          <a:xfrm>
            <a:off x="8334375" y="2881000"/>
            <a:ext cx="1825200" cy="3319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g39633f12e6f_0_135"/>
          <p:cNvPicPr preferRelativeResize="0"/>
          <p:nvPr/>
        </p:nvPicPr>
        <p:blipFill rotWithShape="1">
          <a:blip r:embed="rId6">
            <a:alphaModFix/>
          </a:blip>
          <a:srcRect b="19429" l="29998" r="29902" t="19703"/>
          <a:stretch/>
        </p:blipFill>
        <p:spPr>
          <a:xfrm>
            <a:off x="10911840" y="0"/>
            <a:ext cx="1280161" cy="105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633f12e6f_0_225"/>
          <p:cNvSpPr txBox="1"/>
          <p:nvPr>
            <p:ph type="ctrTitle"/>
          </p:nvPr>
        </p:nvSpPr>
        <p:spPr>
          <a:xfrm>
            <a:off x="2606050" y="336100"/>
            <a:ext cx="862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7"/>
              <a:buFont typeface="Arial"/>
              <a:buNone/>
            </a:pPr>
            <a:r>
              <a:rPr b="1" lang="es-CO" sz="2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Conversión Tiempo-Profundidad usando la técnica de rayo imagen</a:t>
            </a:r>
            <a:endParaRPr sz="6300"/>
          </a:p>
        </p:txBody>
      </p:sp>
      <p:sp>
        <p:nvSpPr>
          <p:cNvPr id="163" name="Google Shape;163;g39633f12e6f_0_225"/>
          <p:cNvSpPr/>
          <p:nvPr/>
        </p:nvSpPr>
        <p:spPr>
          <a:xfrm>
            <a:off x="380263" y="3172606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g39633f12e6f_0_225"/>
          <p:cNvSpPr/>
          <p:nvPr/>
        </p:nvSpPr>
        <p:spPr>
          <a:xfrm>
            <a:off x="532043" y="3335652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g39633f12e6f_0_225"/>
          <p:cNvSpPr txBox="1"/>
          <p:nvPr/>
        </p:nvSpPr>
        <p:spPr>
          <a:xfrm>
            <a:off x="380263" y="3815683"/>
            <a:ext cx="224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Entrada Imagen sísmica migrada en tiempo y un modelo de velocidades 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g39633f12e6f_0_225"/>
          <p:cNvCxnSpPr/>
          <p:nvPr/>
        </p:nvCxnSpPr>
        <p:spPr>
          <a:xfrm>
            <a:off x="882925" y="3423209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g39633f12e6f_0_225"/>
          <p:cNvSpPr/>
          <p:nvPr/>
        </p:nvSpPr>
        <p:spPr>
          <a:xfrm>
            <a:off x="342081" y="4961718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8" name="Google Shape;168;g39633f12e6f_0_225"/>
          <p:cNvSpPr/>
          <p:nvPr/>
        </p:nvSpPr>
        <p:spPr>
          <a:xfrm>
            <a:off x="493861" y="5124764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9" name="Google Shape;169;g39633f12e6f_0_225"/>
          <p:cNvCxnSpPr/>
          <p:nvPr/>
        </p:nvCxnSpPr>
        <p:spPr>
          <a:xfrm>
            <a:off x="812294" y="5193346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g39633f12e6f_0_225"/>
          <p:cNvSpPr txBox="1"/>
          <p:nvPr/>
        </p:nvSpPr>
        <p:spPr>
          <a:xfrm>
            <a:off x="412713" y="5589367"/>
            <a:ext cx="22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Salida imagen sísmica convertida en profundidad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g39633f12e6f_0_225"/>
          <p:cNvSpPr txBox="1"/>
          <p:nvPr/>
        </p:nvSpPr>
        <p:spPr>
          <a:xfrm>
            <a:off x="8445450" y="2084119"/>
            <a:ext cx="3096900" cy="1293000"/>
          </a:xfrm>
          <a:prstGeom prst="rect">
            <a:avLst/>
          </a:prstGeom>
          <a:noFill/>
          <a:ln cap="flat" cmpd="sng" w="28575">
            <a:solidFill>
              <a:srgbClr val="307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9633f12e6f_0_225"/>
          <p:cNvSpPr/>
          <p:nvPr/>
        </p:nvSpPr>
        <p:spPr>
          <a:xfrm>
            <a:off x="3122563" y="2281171"/>
            <a:ext cx="4675500" cy="30507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g39633f12e6f_0_225"/>
          <p:cNvCxnSpPr>
            <a:stCxn id="171" idx="0"/>
            <a:endCxn id="172" idx="0"/>
          </p:cNvCxnSpPr>
          <p:nvPr/>
        </p:nvCxnSpPr>
        <p:spPr>
          <a:xfrm rot="5400000">
            <a:off x="7628550" y="-84131"/>
            <a:ext cx="197100" cy="4533600"/>
          </a:xfrm>
          <a:prstGeom prst="bentConnector3">
            <a:avLst>
              <a:gd fmla="val -120814" name="adj1"/>
            </a:avLst>
          </a:prstGeom>
          <a:noFill/>
          <a:ln cap="flat" cmpd="sng" w="28575">
            <a:solidFill>
              <a:schemeClr val="lt1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174" name="Google Shape;174;g39633f12e6f_0_225"/>
          <p:cNvSpPr/>
          <p:nvPr/>
        </p:nvSpPr>
        <p:spPr>
          <a:xfrm>
            <a:off x="10353415" y="1292044"/>
            <a:ext cx="1317900" cy="66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39633f12e6f_0_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9963" y="2570255"/>
            <a:ext cx="4371623" cy="2678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9633f12e6f_0_225"/>
          <p:cNvSpPr/>
          <p:nvPr/>
        </p:nvSpPr>
        <p:spPr>
          <a:xfrm>
            <a:off x="6309360" y="4554836"/>
            <a:ext cx="1302600" cy="5463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g39633f12e6f_0_2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9704" y="2125688"/>
            <a:ext cx="2868288" cy="11587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g39633f12e6f_0_225"/>
          <p:cNvCxnSpPr>
            <a:stCxn id="172" idx="2"/>
            <a:endCxn id="179" idx="2"/>
          </p:cNvCxnSpPr>
          <p:nvPr/>
        </p:nvCxnSpPr>
        <p:spPr>
          <a:xfrm flipH="1" rot="-5400000">
            <a:off x="7498663" y="3293521"/>
            <a:ext cx="472500" cy="4549200"/>
          </a:xfrm>
          <a:prstGeom prst="bentConnector3">
            <a:avLst>
              <a:gd fmla="val 150398" name="adj1"/>
            </a:avLst>
          </a:prstGeom>
          <a:noFill/>
          <a:ln cap="flat" cmpd="sng" w="28575">
            <a:solidFill>
              <a:schemeClr val="lt1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179" name="Google Shape;179;g39633f12e6f_0_225"/>
          <p:cNvSpPr txBox="1"/>
          <p:nvPr/>
        </p:nvSpPr>
        <p:spPr>
          <a:xfrm>
            <a:off x="8461029" y="4142075"/>
            <a:ext cx="3096900" cy="1662300"/>
          </a:xfrm>
          <a:prstGeom prst="rect">
            <a:avLst/>
          </a:prstGeom>
          <a:noFill/>
          <a:ln cap="flat" cmpd="sng" w="28575">
            <a:solidFill>
              <a:srgbClr val="307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39633f12e6f_0_2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5422" y="4232610"/>
            <a:ext cx="2168010" cy="145560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9633f12e6f_0_225"/>
          <p:cNvSpPr/>
          <p:nvPr/>
        </p:nvSpPr>
        <p:spPr>
          <a:xfrm>
            <a:off x="10434483" y="5994506"/>
            <a:ext cx="1317900" cy="66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Salida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9633f12e6f_0_225"/>
          <p:cNvSpPr/>
          <p:nvPr/>
        </p:nvSpPr>
        <p:spPr>
          <a:xfrm>
            <a:off x="412713" y="1614156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3" name="Google Shape;183;g39633f12e6f_0_225"/>
          <p:cNvSpPr/>
          <p:nvPr/>
        </p:nvSpPr>
        <p:spPr>
          <a:xfrm>
            <a:off x="564493" y="1777202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g39633f12e6f_0_225"/>
          <p:cNvSpPr txBox="1"/>
          <p:nvPr/>
        </p:nvSpPr>
        <p:spPr>
          <a:xfrm>
            <a:off x="412713" y="2257233"/>
            <a:ext cx="22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Plugin para software DecisionSpace (DSG) V. 5000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g39633f12e6f_0_225"/>
          <p:cNvCxnSpPr/>
          <p:nvPr/>
        </p:nvCxnSpPr>
        <p:spPr>
          <a:xfrm>
            <a:off x="882925" y="1845784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g39633f12e6f_0_225"/>
          <p:cNvSpPr txBox="1"/>
          <p:nvPr/>
        </p:nvSpPr>
        <p:spPr>
          <a:xfrm>
            <a:off x="4289900" y="554475"/>
            <a:ext cx="793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9633f12e6f_0_225"/>
          <p:cNvSpPr/>
          <p:nvPr/>
        </p:nvSpPr>
        <p:spPr>
          <a:xfrm>
            <a:off x="2699755" y="1132392"/>
            <a:ext cx="5218500" cy="3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9633f12e6f_0_225"/>
          <p:cNvPicPr preferRelativeResize="0"/>
          <p:nvPr/>
        </p:nvPicPr>
        <p:blipFill rotWithShape="1">
          <a:blip r:embed="rId6">
            <a:alphaModFix/>
          </a:blip>
          <a:srcRect b="19429" l="29998" r="29902" t="19703"/>
          <a:stretch/>
        </p:blipFill>
        <p:spPr>
          <a:xfrm>
            <a:off x="10911840" y="0"/>
            <a:ext cx="1280161" cy="105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633f12e6f_0_255"/>
          <p:cNvSpPr/>
          <p:nvPr/>
        </p:nvSpPr>
        <p:spPr>
          <a:xfrm>
            <a:off x="456463" y="2944006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5" name="Google Shape;195;g39633f12e6f_0_255"/>
          <p:cNvSpPr/>
          <p:nvPr/>
        </p:nvSpPr>
        <p:spPr>
          <a:xfrm>
            <a:off x="608243" y="3107052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6" name="Google Shape;196;g39633f12e6f_0_255"/>
          <p:cNvSpPr txBox="1"/>
          <p:nvPr/>
        </p:nvSpPr>
        <p:spPr>
          <a:xfrm>
            <a:off x="456462" y="3493935"/>
            <a:ext cx="27288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 módulo permite picar un horizonte en una sección sísmica en tiempo (PSTM) y visualizar su conversión en una sección sísmica convertida a profundidad y viceversa.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g39633f12e6f_0_255"/>
          <p:cNvCxnSpPr/>
          <p:nvPr/>
        </p:nvCxnSpPr>
        <p:spPr>
          <a:xfrm>
            <a:off x="926675" y="3251834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g39633f12e6f_0_255"/>
          <p:cNvSpPr/>
          <p:nvPr/>
        </p:nvSpPr>
        <p:spPr>
          <a:xfrm>
            <a:off x="418281" y="5114118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9" name="Google Shape;199;g39633f12e6f_0_255"/>
          <p:cNvSpPr/>
          <p:nvPr/>
        </p:nvSpPr>
        <p:spPr>
          <a:xfrm>
            <a:off x="570061" y="5277164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0" name="Google Shape;200;g39633f12e6f_0_255"/>
          <p:cNvCxnSpPr/>
          <p:nvPr/>
        </p:nvCxnSpPr>
        <p:spPr>
          <a:xfrm>
            <a:off x="888494" y="5421946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g39633f12e6f_0_255"/>
          <p:cNvSpPr txBox="1"/>
          <p:nvPr/>
        </p:nvSpPr>
        <p:spPr>
          <a:xfrm>
            <a:off x="488913" y="5665567"/>
            <a:ext cx="286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conversión tiempo-profundidad se hizo con base en la técnica Rayo-Imagen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02" name="Google Shape;202;g39633f12e6f_0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525" y="2491675"/>
            <a:ext cx="2746659" cy="32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9633f12e6f_0_2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6488" y="2491670"/>
            <a:ext cx="5845524" cy="32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9633f12e6f_0_255"/>
          <p:cNvSpPr txBox="1"/>
          <p:nvPr>
            <p:ph type="ctrTitle"/>
          </p:nvPr>
        </p:nvSpPr>
        <p:spPr>
          <a:xfrm>
            <a:off x="2606050" y="336100"/>
            <a:ext cx="862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7"/>
              <a:buFont typeface="Arial"/>
              <a:buNone/>
            </a:pPr>
            <a:r>
              <a:rPr b="1" lang="es-CO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Herramienta de picado interactivo</a:t>
            </a:r>
            <a:endParaRPr sz="6400"/>
          </a:p>
        </p:txBody>
      </p:sp>
      <p:sp>
        <p:nvSpPr>
          <p:cNvPr id="205" name="Google Shape;205;g39633f12e6f_0_255"/>
          <p:cNvSpPr/>
          <p:nvPr/>
        </p:nvSpPr>
        <p:spPr>
          <a:xfrm>
            <a:off x="2699755" y="1132392"/>
            <a:ext cx="5218500" cy="3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9633f12e6f_0_255"/>
          <p:cNvSpPr/>
          <p:nvPr/>
        </p:nvSpPr>
        <p:spPr>
          <a:xfrm>
            <a:off x="453606" y="1606693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7" name="Google Shape;207;g39633f12e6f_0_255"/>
          <p:cNvSpPr/>
          <p:nvPr/>
        </p:nvSpPr>
        <p:spPr>
          <a:xfrm>
            <a:off x="605386" y="1769739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8" name="Google Shape;208;g39633f12e6f_0_255"/>
          <p:cNvCxnSpPr/>
          <p:nvPr/>
        </p:nvCxnSpPr>
        <p:spPr>
          <a:xfrm>
            <a:off x="923819" y="1914521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g39633f12e6f_0_255"/>
          <p:cNvSpPr txBox="1"/>
          <p:nvPr/>
        </p:nvSpPr>
        <p:spPr>
          <a:xfrm>
            <a:off x="524238" y="2158142"/>
            <a:ext cx="286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Módulo de picado interactivo para software DecisionSpace Geosciences-DSG V.10 EP.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10" name="Google Shape;210;g39633f12e6f_0_255"/>
          <p:cNvPicPr preferRelativeResize="0"/>
          <p:nvPr/>
        </p:nvPicPr>
        <p:blipFill rotWithShape="1">
          <a:blip r:embed="rId5">
            <a:alphaModFix/>
          </a:blip>
          <a:srcRect b="19429" l="29998" r="29902" t="19703"/>
          <a:stretch/>
        </p:blipFill>
        <p:spPr>
          <a:xfrm>
            <a:off x="10911840" y="0"/>
            <a:ext cx="1280161" cy="105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633f12e6f_0_275"/>
          <p:cNvSpPr/>
          <p:nvPr/>
        </p:nvSpPr>
        <p:spPr>
          <a:xfrm>
            <a:off x="619331" y="2138568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g39633f12e6f_0_275"/>
          <p:cNvSpPr/>
          <p:nvPr/>
        </p:nvSpPr>
        <p:spPr>
          <a:xfrm>
            <a:off x="771111" y="2301614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18" name="Google Shape;218;g39633f12e6f_0_275"/>
          <p:cNvCxnSpPr/>
          <p:nvPr/>
        </p:nvCxnSpPr>
        <p:spPr>
          <a:xfrm>
            <a:off x="1089544" y="2446396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g39633f12e6f_0_275"/>
          <p:cNvSpPr txBox="1"/>
          <p:nvPr/>
        </p:nvSpPr>
        <p:spPr>
          <a:xfrm>
            <a:off x="689963" y="2748596"/>
            <a:ext cx="3388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neuronal convolucional para clasificación automática de patrones sedimentológicos en fotografías de núcleos de roca.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20" name="Google Shape;220;g39633f12e6f_0_275"/>
          <p:cNvPicPr preferRelativeResize="0"/>
          <p:nvPr/>
        </p:nvPicPr>
        <p:blipFill rotWithShape="1">
          <a:blip r:embed="rId3">
            <a:alphaModFix/>
          </a:blip>
          <a:srcRect b="0" l="0" r="0" t="26400"/>
          <a:stretch/>
        </p:blipFill>
        <p:spPr>
          <a:xfrm>
            <a:off x="4683700" y="1787050"/>
            <a:ext cx="7186801" cy="39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9633f12e6f_0_275"/>
          <p:cNvSpPr txBox="1"/>
          <p:nvPr>
            <p:ph type="ctrTitle"/>
          </p:nvPr>
        </p:nvSpPr>
        <p:spPr>
          <a:xfrm>
            <a:off x="344200" y="152038"/>
            <a:ext cx="9075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7"/>
              <a:buFont typeface="Arial"/>
              <a:buNone/>
            </a:pPr>
            <a:r>
              <a:rPr b="1" lang="es-CO"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Clasificación Automática de Patrones Sedimentológicos</a:t>
            </a:r>
            <a:endParaRPr sz="6400"/>
          </a:p>
        </p:txBody>
      </p:sp>
      <p:sp>
        <p:nvSpPr>
          <p:cNvPr id="222" name="Google Shape;222;g39633f12e6f_0_275"/>
          <p:cNvSpPr/>
          <p:nvPr/>
        </p:nvSpPr>
        <p:spPr>
          <a:xfrm>
            <a:off x="437905" y="872130"/>
            <a:ext cx="5218500" cy="3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9633f12e6f_0_275"/>
          <p:cNvSpPr/>
          <p:nvPr/>
        </p:nvSpPr>
        <p:spPr>
          <a:xfrm>
            <a:off x="619331" y="4263393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g39633f12e6f_0_275"/>
          <p:cNvSpPr/>
          <p:nvPr/>
        </p:nvSpPr>
        <p:spPr>
          <a:xfrm>
            <a:off x="771111" y="4426439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25" name="Google Shape;225;g39633f12e6f_0_275"/>
          <p:cNvCxnSpPr/>
          <p:nvPr/>
        </p:nvCxnSpPr>
        <p:spPr>
          <a:xfrm>
            <a:off x="1089544" y="4571221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g39633f12e6f_0_275"/>
          <p:cNvSpPr txBox="1"/>
          <p:nvPr/>
        </p:nvSpPr>
        <p:spPr>
          <a:xfrm>
            <a:off x="689963" y="4873421"/>
            <a:ext cx="338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Solución ganadora</a:t>
            </a: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Reto Innóvate - Ecopetrol 2019.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27" name="Google Shape;227;g39633f12e6f_0_275"/>
          <p:cNvPicPr preferRelativeResize="0"/>
          <p:nvPr/>
        </p:nvPicPr>
        <p:blipFill rotWithShape="1">
          <a:blip r:embed="rId4">
            <a:alphaModFix/>
          </a:blip>
          <a:srcRect b="19429" l="29998" r="29902" t="19703"/>
          <a:stretch/>
        </p:blipFill>
        <p:spPr>
          <a:xfrm>
            <a:off x="10911840" y="0"/>
            <a:ext cx="1280161" cy="105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633f12e6f_0_290"/>
          <p:cNvSpPr/>
          <p:nvPr/>
        </p:nvSpPr>
        <p:spPr>
          <a:xfrm>
            <a:off x="465289" y="2971468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g39633f12e6f_0_290"/>
          <p:cNvSpPr/>
          <p:nvPr/>
        </p:nvSpPr>
        <p:spPr>
          <a:xfrm>
            <a:off x="617069" y="3134514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5" name="Google Shape;235;g39633f12e6f_0_290"/>
          <p:cNvCxnSpPr/>
          <p:nvPr/>
        </p:nvCxnSpPr>
        <p:spPr>
          <a:xfrm>
            <a:off x="935502" y="3279296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g39633f12e6f_0_290"/>
          <p:cNvSpPr txBox="1"/>
          <p:nvPr/>
        </p:nvSpPr>
        <p:spPr>
          <a:xfrm>
            <a:off x="535925" y="3599125"/>
            <a:ext cx="29871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Celda espectral en el rango ultravioleta, que envía señales de absorbancias, analizadas mediante un algoritmo de medición de concentración de fenoles.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7" name="Google Shape;237;g39633f12e6f_0_290"/>
          <p:cNvSpPr txBox="1"/>
          <p:nvPr>
            <p:ph type="ctrTitle"/>
          </p:nvPr>
        </p:nvSpPr>
        <p:spPr>
          <a:xfrm>
            <a:off x="387700" y="165550"/>
            <a:ext cx="9400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67"/>
              <a:buFont typeface="Arial"/>
              <a:buNone/>
            </a:pPr>
            <a:r>
              <a:rPr b="1" lang="es-CO" sz="27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Monitoreo de concentración de fenoles  en aguas de vertimiento </a:t>
            </a:r>
            <a:endParaRPr sz="6300"/>
          </a:p>
        </p:txBody>
      </p:sp>
      <p:sp>
        <p:nvSpPr>
          <p:cNvPr id="238" name="Google Shape;238;g39633f12e6f_0_290"/>
          <p:cNvSpPr/>
          <p:nvPr/>
        </p:nvSpPr>
        <p:spPr>
          <a:xfrm>
            <a:off x="541680" y="944867"/>
            <a:ext cx="5218500" cy="35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9633f12e6f_0_290"/>
          <p:cNvSpPr/>
          <p:nvPr/>
        </p:nvSpPr>
        <p:spPr>
          <a:xfrm>
            <a:off x="465289" y="1668193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0" name="Google Shape;240;g39633f12e6f_0_290"/>
          <p:cNvSpPr/>
          <p:nvPr/>
        </p:nvSpPr>
        <p:spPr>
          <a:xfrm>
            <a:off x="617069" y="1831239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41" name="Google Shape;241;g39633f12e6f_0_290"/>
          <p:cNvCxnSpPr/>
          <p:nvPr/>
        </p:nvCxnSpPr>
        <p:spPr>
          <a:xfrm>
            <a:off x="935502" y="1976021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g39633f12e6f_0_290"/>
          <p:cNvSpPr txBox="1"/>
          <p:nvPr/>
        </p:nvSpPr>
        <p:spPr>
          <a:xfrm>
            <a:off x="535925" y="2219650"/>
            <a:ext cx="298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Monitoreo en tiempo real de nivel de fenoles en aguas de vertimiento.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43" name="Google Shape;243;g39633f12e6f_0_290"/>
          <p:cNvPicPr preferRelativeResize="0"/>
          <p:nvPr/>
        </p:nvPicPr>
        <p:blipFill rotWithShape="1">
          <a:blip r:embed="rId3">
            <a:alphaModFix/>
          </a:blip>
          <a:srcRect b="0" l="6821" r="0" t="16861"/>
          <a:stretch/>
        </p:blipFill>
        <p:spPr>
          <a:xfrm>
            <a:off x="3750800" y="1755050"/>
            <a:ext cx="8441201" cy="40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9633f12e6f_0_290"/>
          <p:cNvSpPr/>
          <p:nvPr/>
        </p:nvSpPr>
        <p:spPr>
          <a:xfrm>
            <a:off x="465289" y="5136918"/>
            <a:ext cx="486300" cy="486300"/>
          </a:xfrm>
          <a:prstGeom prst="snip1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5" name="Google Shape;245;g39633f12e6f_0_290"/>
          <p:cNvSpPr/>
          <p:nvPr/>
        </p:nvSpPr>
        <p:spPr>
          <a:xfrm>
            <a:off x="617069" y="5299964"/>
            <a:ext cx="182673" cy="160141"/>
          </a:xfrm>
          <a:custGeom>
            <a:rect b="b" l="l" r="r" t="t"/>
            <a:pathLst>
              <a:path extrusionOk="0" h="84" w="96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46" name="Google Shape;246;g39633f12e6f_0_290"/>
          <p:cNvCxnSpPr/>
          <p:nvPr/>
        </p:nvCxnSpPr>
        <p:spPr>
          <a:xfrm>
            <a:off x="935502" y="5444746"/>
            <a:ext cx="1628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g39633f12e6f_0_290"/>
          <p:cNvSpPr txBox="1"/>
          <p:nvPr/>
        </p:nvSpPr>
        <p:spPr>
          <a:xfrm>
            <a:off x="535925" y="5688375"/>
            <a:ext cx="298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Generación de alertas.</a:t>
            </a:r>
            <a:endParaRPr b="0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48" name="Google Shape;248;g39633f12e6f_0_290"/>
          <p:cNvPicPr preferRelativeResize="0"/>
          <p:nvPr/>
        </p:nvPicPr>
        <p:blipFill rotWithShape="1">
          <a:blip r:embed="rId4">
            <a:alphaModFix/>
          </a:blip>
          <a:srcRect b="19429" l="29998" r="29902" t="19703"/>
          <a:stretch/>
        </p:blipFill>
        <p:spPr>
          <a:xfrm>
            <a:off x="10911840" y="0"/>
            <a:ext cx="1280161" cy="105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"/>
          <p:cNvPicPr preferRelativeResize="0"/>
          <p:nvPr/>
        </p:nvPicPr>
        <p:blipFill rotWithShape="1">
          <a:blip r:embed="rId3">
            <a:alphaModFix/>
          </a:blip>
          <a:srcRect b="19429" l="30000" r="29900" t="19704"/>
          <a:stretch/>
        </p:blipFill>
        <p:spPr>
          <a:xfrm>
            <a:off x="10798140" y="174000"/>
            <a:ext cx="1280161" cy="105988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"/>
          <p:cNvSpPr txBox="1"/>
          <p:nvPr/>
        </p:nvSpPr>
        <p:spPr>
          <a:xfrm>
            <a:off x="113700" y="2566300"/>
            <a:ext cx="11964600" cy="3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6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Visor en </a:t>
            </a:r>
            <a:r>
              <a:rPr lang="es-CO" sz="56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línea</a:t>
            </a:r>
            <a:r>
              <a:rPr lang="es-CO" sz="56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de datos </a:t>
            </a:r>
            <a:r>
              <a:rPr lang="es-CO" sz="56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sísmicos</a:t>
            </a:r>
            <a:endParaRPr sz="5650">
              <a:solidFill>
                <a:srgbClr val="00E5FF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5650">
              <a:solidFill>
                <a:srgbClr val="00E5FF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s-CO" sz="6250">
                <a:solidFill>
                  <a:srgbClr val="FF9900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SIN INSTALAR NADA</a:t>
            </a:r>
            <a:endParaRPr b="1" sz="6250">
              <a:solidFill>
                <a:srgbClr val="FF9900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e1a2e33bcd_0_0"/>
          <p:cNvPicPr preferRelativeResize="0"/>
          <p:nvPr/>
        </p:nvPicPr>
        <p:blipFill rotWithShape="1">
          <a:blip r:embed="rId3">
            <a:alphaModFix/>
          </a:blip>
          <a:srcRect b="19429" l="29998" r="29902" t="19703"/>
          <a:stretch/>
        </p:blipFill>
        <p:spPr>
          <a:xfrm>
            <a:off x="10798140" y="174000"/>
            <a:ext cx="1280161" cy="105988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e1a2e33bcd_0_0"/>
          <p:cNvSpPr txBox="1"/>
          <p:nvPr/>
        </p:nvSpPr>
        <p:spPr>
          <a:xfrm>
            <a:off x="113700" y="2566300"/>
            <a:ext cx="11964600" cy="21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650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Inicie la Transformación</a:t>
            </a:r>
            <a:endParaRPr sz="5650">
              <a:solidFill>
                <a:srgbClr val="00E5FF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CO" sz="2150">
                <a:solidFill>
                  <a:srgbClr val="EFEFEF"/>
                </a:solidFill>
                <a:highlight>
                  <a:srgbClr val="070B14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Hablemos sobre cómo nuestros algoritmos pueden revolucionar su operación.</a:t>
            </a:r>
            <a:endParaRPr sz="2150">
              <a:solidFill>
                <a:srgbClr val="EFEFEF"/>
              </a:solidFill>
              <a:highlight>
                <a:srgbClr val="070B14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50">
                <a:solidFill>
                  <a:srgbClr val="00E5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321 349 64 61</a:t>
            </a:r>
            <a:endParaRPr>
              <a:solidFill>
                <a:srgbClr val="00E5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2fb537e3c8c_0_205"/>
          <p:cNvPicPr preferRelativeResize="0"/>
          <p:nvPr/>
        </p:nvPicPr>
        <p:blipFill rotWithShape="1">
          <a:blip r:embed="rId3">
            <a:alphaModFix/>
          </a:blip>
          <a:srcRect b="19429" l="30000" r="29900" t="19704"/>
          <a:stretch/>
        </p:blipFill>
        <p:spPr>
          <a:xfrm>
            <a:off x="10911840" y="0"/>
            <a:ext cx="1280160" cy="1059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2022-10-06T10:51:30Z</dcterms:created>
  <dc:creator>Usuario</dc:creator>
</cp:coreProperties>
</file>