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19.png" ContentType="image/png"/>
  <Override PartName="/ppt/media/image1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s-CO" sz="4400" spc="-1" strike="noStrike">
                <a:latin typeface="Arial"/>
              </a:rPr>
              <a:t>Pulse para </a:t>
            </a:r>
            <a:r>
              <a:rPr b="0" lang="es-CO" sz="4400" spc="-1" strike="noStrike">
                <a:latin typeface="Arial"/>
              </a:rPr>
              <a:t>desplazar la </a:t>
            </a:r>
            <a:r>
              <a:rPr b="0" lang="es-CO" sz="4400" spc="-1" strike="noStrike">
                <a:latin typeface="Arial"/>
              </a:rPr>
              <a:t>diapositiva</a:t>
            </a:r>
            <a:endParaRPr b="0" lang="es-CO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CO" sz="2000" spc="-1" strike="noStrike">
                <a:latin typeface="Arial"/>
              </a:rPr>
              <a:t>Pulse para </a:t>
            </a:r>
            <a:r>
              <a:rPr b="0" lang="es-CO" sz="2000" spc="-1" strike="noStrike">
                <a:latin typeface="Arial"/>
              </a:rPr>
              <a:t>editar el </a:t>
            </a:r>
            <a:r>
              <a:rPr b="0" lang="es-CO" sz="2000" spc="-1" strike="noStrike">
                <a:latin typeface="Arial"/>
              </a:rPr>
              <a:t>formato de </a:t>
            </a:r>
            <a:r>
              <a:rPr b="0" lang="es-CO" sz="2000" spc="-1" strike="noStrike">
                <a:latin typeface="Arial"/>
              </a:rPr>
              <a:t>las notas</a:t>
            </a:r>
            <a:endParaRPr b="0" lang="es-CO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CO" sz="1400" spc="-1" strike="noStrike">
                <a:latin typeface="Times New Roman"/>
              </a:rPr>
              <a:t>&lt;cabecera&gt;</a:t>
            </a:r>
            <a:endParaRPr b="0" lang="es-CO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s-CO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s-CO" sz="1400" spc="-1" strike="noStrike">
                <a:latin typeface="Times New Roman"/>
              </a:rPr>
              <a:t>&lt;fecha/hora&gt;</a:t>
            </a:r>
            <a:endParaRPr b="0" lang="es-CO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s-CO" sz="1400" spc="-1" strike="noStrike">
                <a:latin typeface="Times New Roman"/>
              </a:defRPr>
            </a:lvl1pPr>
          </a:lstStyle>
          <a:p>
            <a:r>
              <a:rPr b="0" lang="es-CO" sz="1400" spc="-1" strike="noStrike">
                <a:latin typeface="Times New Roman"/>
              </a:rPr>
              <a:t>&lt;pie de página&gt;</a:t>
            </a:r>
            <a:endParaRPr b="0" lang="es-CO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s-CO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6EEF16B-BC0B-4E6A-8D03-C62E3B0FE14C}" type="slidenum">
              <a:rPr b="0" lang="es-CO" sz="1400" spc="-1" strike="noStrike">
                <a:latin typeface="Times New Roman"/>
              </a:rPr>
              <a:t>&lt;número&gt;</a:t>
            </a:fld>
            <a:endParaRPr b="0" lang="es-CO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s-CO" sz="20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s-CO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7896375-4A4E-41CE-98B5-7CC5BBD32F90}" type="slidenum">
              <a:rPr b="0" lang="es-CO" sz="1400" spc="-1" strike="noStrike">
                <a:latin typeface="Times New Roman"/>
              </a:rPr>
              <a:t>&lt;número&gt;</a:t>
            </a:fld>
            <a:endParaRPr b="0" lang="es-CO" sz="14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s-CO" sz="20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s-CO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3B3871B-99BF-4AC4-8E43-4C4591C25C6C}" type="slidenum">
              <a:rPr b="0" lang="es-CO" sz="1400" spc="-1" strike="noStrike">
                <a:latin typeface="Times New Roman"/>
              </a:rPr>
              <a:t>&lt;número&gt;</a:t>
            </a:fld>
            <a:endParaRPr b="0" lang="es-CO" sz="1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s-CO" sz="20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s-CO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BA2D784-9FB7-4EC1-B6E0-DD1F010D72FA}" type="slidenum">
              <a:rPr b="0" lang="es-CO" sz="1400" spc="-1" strike="noStrike">
                <a:latin typeface="Times New Roman"/>
              </a:rPr>
              <a:t>&lt;número&gt;</a:t>
            </a:fld>
            <a:endParaRPr b="0" lang="es-CO" sz="1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s-CO" sz="20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s-CO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C7B73A2-B936-4A88-B8C1-2A545168A114}" type="slidenum">
              <a:rPr b="0" lang="es-CO" sz="1400" spc="-1" strike="noStrike">
                <a:latin typeface="Times New Roman"/>
              </a:rPr>
              <a:t>&lt;número&gt;</a:t>
            </a:fld>
            <a:endParaRPr b="0" lang="es-CO" sz="14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s-CO" sz="20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s-CO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910AB2A-1651-453A-982B-58C13382E660}" type="slidenum">
              <a:rPr b="0" lang="es-CO" sz="1400" spc="-1" strike="noStrike">
                <a:latin typeface="Times New Roman"/>
              </a:rPr>
              <a:t>&lt;número&gt;</a:t>
            </a:fld>
            <a:endParaRPr b="0" lang="es-CO" sz="1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8614C65-8340-4C94-AD4F-E01567FCDC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B36C91-B84E-4EAA-B59D-7FEF73C350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8F0840-3956-49E5-87F6-C8DBC2FC6C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65F2BC3-C4A9-47F7-8BF6-668413B575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6779F0-9E2D-4A82-9A51-9ECCA0CDE9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2920" cy="1106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424684-0481-40FD-A1FB-51F898D3DD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203282-AAC3-45BF-8438-E15FC73606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A12938-F798-49EF-BCE9-9634AB9014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15CCAD-D9CE-4280-8667-97148AA261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3D6F98-3649-4889-84D5-5AF5AE0082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01A785-A929-4924-8547-9137F8556B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00CF3B-BDA8-4826-A80F-2A971C2BC3D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CO" sz="1800" spc="-1" strike="noStrike">
                <a:latin typeface="Arial"/>
              </a:rPr>
              <a:t>Pulse para editar el </a:t>
            </a:r>
            <a:r>
              <a:rPr b="0" lang="es-CO" sz="1800" spc="-1" strike="noStrike">
                <a:latin typeface="Arial"/>
              </a:rPr>
              <a:t>formato del texto de </a:t>
            </a:r>
            <a:r>
              <a:rPr b="0" lang="es-CO" sz="1800" spc="-1" strike="noStrike">
                <a:latin typeface="Arial"/>
              </a:rPr>
              <a:t>título</a:t>
            </a:r>
            <a:endParaRPr b="0" lang="es-CO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latin typeface="Arial"/>
              </a:rPr>
              <a:t>Pulse para editar el formato de texto del esquema</a:t>
            </a:r>
            <a:endParaRPr b="0" lang="es-CO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pc="-1" strike="noStrike">
                <a:latin typeface="Arial"/>
              </a:rPr>
              <a:t>Segundo nivel del esquema</a:t>
            </a:r>
            <a:endParaRPr b="0" lang="es-CO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latin typeface="Arial"/>
              </a:rPr>
              <a:t>Tercer nivel del esquema</a:t>
            </a:r>
            <a:endParaRPr b="0" lang="es-CO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pc="-1" strike="noStrike">
                <a:latin typeface="Arial"/>
              </a:rPr>
              <a:t>Cuarto nivel del esquema</a:t>
            </a:r>
            <a:endParaRPr b="0" lang="es-CO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latin typeface="Arial"/>
              </a:rPr>
              <a:t>Quinto nivel del esquema</a:t>
            </a:r>
            <a:endParaRPr b="0" lang="es-CO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latin typeface="Arial"/>
              </a:rPr>
              <a:t>Sexto nivel del esquema</a:t>
            </a:r>
            <a:endParaRPr b="0" lang="es-CO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latin typeface="Arial"/>
              </a:rPr>
              <a:t>Séptimo nivel del esquema</a:t>
            </a:r>
            <a:endParaRPr b="0" lang="es-CO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s-CO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s-CO" sz="1400" spc="-1" strike="noStrike">
                <a:latin typeface="Times New Roman"/>
              </a:rPr>
              <a:t>&lt;pie de página&gt;</a:t>
            </a:r>
            <a:endParaRPr b="0" lang="es-CO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s-CO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68A94FC-23EA-4731-BA8B-A64EE9DD6428}" type="slidenum">
              <a:rPr b="0" lang="es-CO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es-CO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s-CO" sz="1400" spc="-1" strike="noStrike">
                <a:latin typeface="Times New Roman"/>
              </a:defRPr>
            </a:lvl1pPr>
          </a:lstStyle>
          <a:p>
            <a:r>
              <a:rPr b="0" lang="es-CO" sz="1400" spc="-1" strike="noStrike">
                <a:latin typeface="Times New Roman"/>
              </a:rPr>
              <a:t>&lt;fecha/hora&gt;</a:t>
            </a:r>
            <a:endParaRPr b="0" lang="es-CO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85;g3f19bc9ad7d_0_147"/>
          <p:cNvSpPr/>
          <p:nvPr/>
        </p:nvSpPr>
        <p:spPr>
          <a:xfrm>
            <a:off x="962640" y="1845000"/>
            <a:ext cx="10493280" cy="272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s-CO" sz="5050" spc="-1" strike="noStrike">
                <a:solidFill>
                  <a:srgbClr val="f8fafc"/>
                </a:solidFill>
                <a:highlight>
                  <a:srgbClr val="070b14"/>
                </a:highlight>
                <a:latin typeface="Century Gothic"/>
                <a:ea typeface="Century Gothic"/>
              </a:rPr>
              <a:t>Equipo experto en Software e Inteligencia Artificial </a:t>
            </a:r>
            <a:endParaRPr b="0" lang="es-CO" sz="505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s-CO" sz="5050" spc="-1" strike="noStrike">
                <a:solidFill>
                  <a:srgbClr val="f8fafc"/>
                </a:solidFill>
                <a:highlight>
                  <a:srgbClr val="070b14"/>
                </a:highlight>
                <a:latin typeface="Century Gothic"/>
                <a:ea typeface="Century Gothic"/>
              </a:rPr>
              <a:t>para </a:t>
            </a:r>
            <a:r>
              <a:rPr b="0" lang="es-CO" sz="5050" spc="-1" strike="noStrike">
                <a:solidFill>
                  <a:srgbClr val="00e5ff"/>
                </a:solidFill>
                <a:highlight>
                  <a:srgbClr val="070b14"/>
                </a:highlight>
                <a:latin typeface="Century Gothic"/>
                <a:ea typeface="Century Gothic"/>
              </a:rPr>
              <a:t>Oil &amp; Gas</a:t>
            </a:r>
            <a:endParaRPr b="0" lang="es-CO" sz="5050" spc="-1" strike="noStrike">
              <a:latin typeface="Arial"/>
            </a:endParaRPr>
          </a:p>
        </p:txBody>
      </p:sp>
      <p:sp>
        <p:nvSpPr>
          <p:cNvPr id="48" name="Google Shape;86;g3f19bc9ad7d_0_147"/>
          <p:cNvSpPr/>
          <p:nvPr/>
        </p:nvSpPr>
        <p:spPr>
          <a:xfrm>
            <a:off x="2172600" y="6156000"/>
            <a:ext cx="827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2100" spc="-1" strike="noStrike">
                <a:solidFill>
                  <a:srgbClr val="00e5ff"/>
                </a:solidFill>
                <a:highlight>
                  <a:srgbClr val="070b14"/>
                </a:highlight>
                <a:latin typeface="Arial"/>
                <a:ea typeface="Arial"/>
              </a:rPr>
              <a:t>Decisiones precisas impulsadas por modelos de base científica</a:t>
            </a:r>
            <a:endParaRPr b="0" lang="es-CO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92;g3f19bc9ad7d_0_0"/>
          <p:cNvSpPr/>
          <p:nvPr/>
        </p:nvSpPr>
        <p:spPr>
          <a:xfrm>
            <a:off x="257760" y="974520"/>
            <a:ext cx="485280" cy="485280"/>
          </a:xfrm>
          <a:prstGeom prst="snip1Rect">
            <a:avLst>
              <a:gd name="adj" fmla="val 16667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Google Shape;93;g3f19bc9ad7d_0_0"/>
          <p:cNvSpPr/>
          <p:nvPr/>
        </p:nvSpPr>
        <p:spPr>
          <a:xfrm>
            <a:off x="409680" y="1137240"/>
            <a:ext cx="181440" cy="159120"/>
          </a:xfrm>
          <a:custGeom>
            <a:avLst/>
            <a:gdLst/>
            <a:ahLst/>
            <a:rect l="l" t="t" r="r" b="b"/>
            <a:pathLst>
              <a:path w="96" h="84">
                <a:moveTo>
                  <a:pt x="95" y="0"/>
                </a:moveTo>
                <a:cubicBezTo>
                  <a:pt x="94" y="0"/>
                  <a:pt x="93" y="0"/>
                  <a:pt x="93" y="1"/>
                </a:cubicBezTo>
                <a:cubicBezTo>
                  <a:pt x="48" y="45"/>
                  <a:pt x="48" y="45"/>
                  <a:pt x="48" y="45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2" y="0"/>
                  <a:pt x="1" y="0"/>
                </a:cubicBezTo>
                <a:cubicBezTo>
                  <a:pt x="0" y="0"/>
                  <a:pt x="0" y="1"/>
                  <a:pt x="0" y="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0" y="37"/>
                  <a:pt x="1" y="38"/>
                </a:cubicBezTo>
                <a:cubicBezTo>
                  <a:pt x="47" y="83"/>
                  <a:pt x="47" y="83"/>
                  <a:pt x="47" y="83"/>
                </a:cubicBezTo>
                <a:cubicBezTo>
                  <a:pt x="47" y="84"/>
                  <a:pt x="48" y="84"/>
                  <a:pt x="48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95" y="38"/>
                  <a:pt x="95" y="38"/>
                  <a:pt x="95" y="38"/>
                </a:cubicBezTo>
                <a:cubicBezTo>
                  <a:pt x="96" y="37"/>
                  <a:pt x="96" y="37"/>
                  <a:pt x="96" y="3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6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Google Shape;94;g3f19bc9ad7d_0_0"/>
          <p:cNvSpPr/>
          <p:nvPr/>
        </p:nvSpPr>
        <p:spPr>
          <a:xfrm>
            <a:off x="388440" y="4965840"/>
            <a:ext cx="485280" cy="485280"/>
          </a:xfrm>
          <a:prstGeom prst="snip1Rect">
            <a:avLst>
              <a:gd name="adj" fmla="val 16667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42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 </a:t>
            </a:r>
            <a:endParaRPr b="0" lang="es-CO" sz="4200" spc="-1" strike="noStrike">
              <a:latin typeface="Arial"/>
            </a:endParaRPr>
          </a:p>
        </p:txBody>
      </p:sp>
      <p:sp>
        <p:nvSpPr>
          <p:cNvPr id="53" name="Google Shape;103;g3f19bc9ad7d_0_0"/>
          <p:cNvSpPr/>
          <p:nvPr/>
        </p:nvSpPr>
        <p:spPr>
          <a:xfrm>
            <a:off x="6351120" y="1275840"/>
            <a:ext cx="1788840" cy="17398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Google Shape;106;g3f19bc9ad7d_0_0"/>
          <p:cNvSpPr/>
          <p:nvPr/>
        </p:nvSpPr>
        <p:spPr>
          <a:xfrm>
            <a:off x="6120000" y="3155040"/>
            <a:ext cx="2697120" cy="103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CO" sz="18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Jonathan Monsalve, Ph.D</a:t>
            </a:r>
            <a:endParaRPr b="0" lang="es-CO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6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Inteligencia Artificial</a:t>
            </a:r>
            <a:endParaRPr b="0" lang="es-CO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6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Desarrollo de Software</a:t>
            </a:r>
            <a:endParaRPr b="0" lang="es-CO" sz="1600" spc="-1" strike="noStrike">
              <a:latin typeface="Arial"/>
            </a:endParaRPr>
          </a:p>
        </p:txBody>
      </p:sp>
      <p:sp>
        <p:nvSpPr>
          <p:cNvPr id="55" name="Google Shape;110;g3f19bc9ad7d_0_0"/>
          <p:cNvSpPr/>
          <p:nvPr/>
        </p:nvSpPr>
        <p:spPr>
          <a:xfrm>
            <a:off x="257760" y="2880720"/>
            <a:ext cx="485280" cy="485280"/>
          </a:xfrm>
          <a:prstGeom prst="snip1Rect">
            <a:avLst>
              <a:gd name="adj" fmla="val 16667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Google Shape;111;g3f19bc9ad7d_0_0"/>
          <p:cNvSpPr/>
          <p:nvPr/>
        </p:nvSpPr>
        <p:spPr>
          <a:xfrm>
            <a:off x="372960" y="3058920"/>
            <a:ext cx="181440" cy="159120"/>
          </a:xfrm>
          <a:custGeom>
            <a:avLst/>
            <a:gdLst/>
            <a:ahLst/>
            <a:rect l="l" t="t" r="r" b="b"/>
            <a:pathLst>
              <a:path w="96" h="84">
                <a:moveTo>
                  <a:pt x="95" y="0"/>
                </a:moveTo>
                <a:cubicBezTo>
                  <a:pt x="94" y="0"/>
                  <a:pt x="93" y="0"/>
                  <a:pt x="93" y="1"/>
                </a:cubicBezTo>
                <a:cubicBezTo>
                  <a:pt x="48" y="45"/>
                  <a:pt x="48" y="45"/>
                  <a:pt x="48" y="45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2" y="0"/>
                  <a:pt x="1" y="0"/>
                </a:cubicBezTo>
                <a:cubicBezTo>
                  <a:pt x="0" y="0"/>
                  <a:pt x="0" y="1"/>
                  <a:pt x="0" y="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0" y="37"/>
                  <a:pt x="1" y="38"/>
                </a:cubicBezTo>
                <a:cubicBezTo>
                  <a:pt x="47" y="83"/>
                  <a:pt x="47" y="83"/>
                  <a:pt x="47" y="83"/>
                </a:cubicBezTo>
                <a:cubicBezTo>
                  <a:pt x="47" y="84"/>
                  <a:pt x="48" y="84"/>
                  <a:pt x="48" y="84"/>
                </a:cubicBezTo>
                <a:cubicBezTo>
                  <a:pt x="49" y="84"/>
                  <a:pt x="49" y="84"/>
                  <a:pt x="49" y="83"/>
                </a:cubicBezTo>
                <a:cubicBezTo>
                  <a:pt x="95" y="38"/>
                  <a:pt x="95" y="38"/>
                  <a:pt x="95" y="38"/>
                </a:cubicBezTo>
                <a:cubicBezTo>
                  <a:pt x="96" y="37"/>
                  <a:pt x="96" y="37"/>
                  <a:pt x="96" y="3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6" y="0"/>
                  <a:pt x="95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Google Shape;113;g3f19bc9ad7d_0_0"/>
          <p:cNvSpPr/>
          <p:nvPr/>
        </p:nvSpPr>
        <p:spPr>
          <a:xfrm>
            <a:off x="6216840" y="4320000"/>
            <a:ext cx="224280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6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PhDs. en Ingeniería Eléctrica </a:t>
            </a:r>
            <a:endParaRPr b="0" lang="es-CO" sz="1600" spc="-1" strike="noStrike"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2"/>
          <a:stretch/>
        </p:blipFill>
        <p:spPr>
          <a:xfrm>
            <a:off x="1510200" y="1098720"/>
            <a:ext cx="2629440" cy="304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134;g2fb537e3c8c_0_186" descr=""/>
          <p:cNvPicPr/>
          <p:nvPr/>
        </p:nvPicPr>
        <p:blipFill>
          <a:blip r:embed="rId1"/>
          <a:stretch/>
        </p:blipFill>
        <p:spPr>
          <a:xfrm>
            <a:off x="7200000" y="5580000"/>
            <a:ext cx="2162160" cy="969480"/>
          </a:xfrm>
          <a:prstGeom prst="rect">
            <a:avLst/>
          </a:prstGeom>
          <a:ln w="0">
            <a:noFill/>
          </a:ln>
        </p:spPr>
      </p:pic>
      <p:pic>
        <p:nvPicPr>
          <p:cNvPr id="60" name="Google Shape;135;g2fb537e3c8c_0_186" descr=""/>
          <p:cNvPicPr/>
          <p:nvPr/>
        </p:nvPicPr>
        <p:blipFill>
          <a:blip r:embed="rId2"/>
          <a:srcRect l="13850" t="4072" r="16152" b="31403"/>
          <a:stretch/>
        </p:blipFill>
        <p:spPr>
          <a:xfrm>
            <a:off x="7920000" y="2520000"/>
            <a:ext cx="1571040" cy="1234800"/>
          </a:xfrm>
          <a:prstGeom prst="rect">
            <a:avLst/>
          </a:prstGeom>
          <a:ln w="0">
            <a:noFill/>
          </a:ln>
        </p:spPr>
      </p:pic>
      <p:pic>
        <p:nvPicPr>
          <p:cNvPr id="61" name="Google Shape;136;g2fb537e3c8c_0_186" descr=""/>
          <p:cNvPicPr/>
          <p:nvPr/>
        </p:nvPicPr>
        <p:blipFill>
          <a:blip r:embed="rId3"/>
          <a:stretch/>
        </p:blipFill>
        <p:spPr>
          <a:xfrm>
            <a:off x="3976920" y="3779640"/>
            <a:ext cx="3402360" cy="1079640"/>
          </a:xfrm>
          <a:prstGeom prst="rect">
            <a:avLst/>
          </a:prstGeom>
          <a:ln w="0">
            <a:noFill/>
          </a:ln>
        </p:spPr>
      </p:pic>
      <p:pic>
        <p:nvPicPr>
          <p:cNvPr id="62" name="Google Shape;137;g2fb537e3c8c_0_186" descr=""/>
          <p:cNvPicPr/>
          <p:nvPr/>
        </p:nvPicPr>
        <p:blipFill>
          <a:blip r:embed="rId4"/>
          <a:stretch/>
        </p:blipFill>
        <p:spPr>
          <a:xfrm>
            <a:off x="317880" y="4062600"/>
            <a:ext cx="2741400" cy="616680"/>
          </a:xfrm>
          <a:prstGeom prst="rect">
            <a:avLst/>
          </a:prstGeom>
          <a:ln w="0">
            <a:noFill/>
          </a:ln>
        </p:spPr>
      </p:pic>
      <p:sp>
        <p:nvSpPr>
          <p:cNvPr id="63" name="Google Shape;138;g2fb537e3c8c_0_186"/>
          <p:cNvSpPr/>
          <p:nvPr/>
        </p:nvSpPr>
        <p:spPr>
          <a:xfrm>
            <a:off x="3780000" y="2115000"/>
            <a:ext cx="2998800" cy="9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s-CO" sz="4550" spc="-1" strike="noStrike">
                <a:solidFill>
                  <a:srgbClr val="00e5ff"/>
                </a:solidFill>
                <a:highlight>
                  <a:srgbClr val="070b14"/>
                </a:highlight>
                <a:latin typeface="Century Gothic"/>
                <a:ea typeface="Century Gothic"/>
              </a:rPr>
              <a:t>Clientes</a:t>
            </a:r>
            <a:endParaRPr b="0" lang="es-CO" sz="455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011280" y="3486240"/>
            <a:ext cx="18000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"/>
          <p:cNvSpPr/>
          <p:nvPr/>
        </p:nvSpPr>
        <p:spPr>
          <a:xfrm>
            <a:off x="6011280" y="3486240"/>
            <a:ext cx="18000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6" name="Google Shape;57;p13" descr=""/>
          <p:cNvPicPr/>
          <p:nvPr/>
        </p:nvPicPr>
        <p:blipFill>
          <a:blip r:embed="rId5"/>
          <a:stretch/>
        </p:blipFill>
        <p:spPr>
          <a:xfrm>
            <a:off x="360000" y="720000"/>
            <a:ext cx="2532600" cy="125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144;g3f19bc9ad7d_0_163"/>
          <p:cNvSpPr/>
          <p:nvPr/>
        </p:nvSpPr>
        <p:spPr>
          <a:xfrm>
            <a:off x="84960" y="96480"/>
            <a:ext cx="4508640" cy="23832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307af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Google Shape;145;g3f19bc9ad7d_0_163"/>
          <p:cNvSpPr/>
          <p:nvPr/>
        </p:nvSpPr>
        <p:spPr>
          <a:xfrm>
            <a:off x="5549760" y="96480"/>
            <a:ext cx="6527880" cy="23832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307af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9" name="Google Shape;146;g3f19bc9ad7d_0_163" descr=""/>
          <p:cNvPicPr/>
          <p:nvPr/>
        </p:nvPicPr>
        <p:blipFill>
          <a:blip r:embed="rId1"/>
          <a:srcRect l="28818" t="0" r="50030" b="0"/>
          <a:stretch/>
        </p:blipFill>
        <p:spPr>
          <a:xfrm>
            <a:off x="414360" y="274320"/>
            <a:ext cx="702360" cy="2086560"/>
          </a:xfrm>
          <a:prstGeom prst="rect">
            <a:avLst/>
          </a:prstGeom>
          <a:ln w="0">
            <a:noFill/>
          </a:ln>
        </p:spPr>
      </p:pic>
      <p:sp>
        <p:nvSpPr>
          <p:cNvPr id="70" name="Google Shape;147;g3f19bc9ad7d_0_163"/>
          <p:cNvSpPr/>
          <p:nvPr/>
        </p:nvSpPr>
        <p:spPr>
          <a:xfrm>
            <a:off x="1329840" y="193680"/>
            <a:ext cx="33249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Algoritmo de  IA para la </a:t>
            </a:r>
            <a:endParaRPr b="0" lang="es-CO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corrección de registros </a:t>
            </a:r>
            <a:endParaRPr b="0" lang="es-CO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en presencia de bad hole</a:t>
            </a:r>
            <a:endParaRPr b="0" lang="es-CO" sz="1800" spc="-1" strike="noStrike">
              <a:latin typeface="Arial"/>
            </a:endParaRPr>
          </a:p>
        </p:txBody>
      </p:sp>
      <p:pic>
        <p:nvPicPr>
          <p:cNvPr id="71" name="Google Shape;148;g3f19bc9ad7d_0_163" descr=""/>
          <p:cNvPicPr/>
          <p:nvPr/>
        </p:nvPicPr>
        <p:blipFill>
          <a:blip r:embed="rId2"/>
          <a:srcRect l="83991" t="71312" r="0" b="7990"/>
          <a:stretch/>
        </p:blipFill>
        <p:spPr>
          <a:xfrm>
            <a:off x="1970280" y="1062720"/>
            <a:ext cx="1596240" cy="1322640"/>
          </a:xfrm>
          <a:prstGeom prst="rect">
            <a:avLst/>
          </a:prstGeom>
          <a:ln w="0">
            <a:noFill/>
          </a:ln>
        </p:spPr>
      </p:pic>
      <p:sp>
        <p:nvSpPr>
          <p:cNvPr id="72" name="Google Shape;149;g3f19bc9ad7d_0_163"/>
          <p:cNvSpPr/>
          <p:nvPr/>
        </p:nvSpPr>
        <p:spPr>
          <a:xfrm>
            <a:off x="146160" y="2661840"/>
            <a:ext cx="4508640" cy="2172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307af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s-CO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s-CO" sz="1400" spc="-1" strike="noStrike">
              <a:latin typeface="Arial"/>
            </a:endParaRPr>
          </a:p>
        </p:txBody>
      </p:sp>
      <p:sp>
        <p:nvSpPr>
          <p:cNvPr id="73" name="Google Shape;150;g3f19bc9ad7d_0_163"/>
          <p:cNvSpPr/>
          <p:nvPr/>
        </p:nvSpPr>
        <p:spPr>
          <a:xfrm>
            <a:off x="146160" y="5016960"/>
            <a:ext cx="4508640" cy="172836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307af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s-CO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s-CO" sz="1400" spc="-1" strike="noStrike">
              <a:latin typeface="Arial"/>
            </a:endParaRPr>
          </a:p>
        </p:txBody>
      </p:sp>
      <p:pic>
        <p:nvPicPr>
          <p:cNvPr id="74" name="Google Shape;151;g3f19bc9ad7d_0_163" descr=""/>
          <p:cNvPicPr/>
          <p:nvPr/>
        </p:nvPicPr>
        <p:blipFill>
          <a:blip r:embed="rId3"/>
          <a:stretch/>
        </p:blipFill>
        <p:spPr>
          <a:xfrm>
            <a:off x="5911920" y="1062720"/>
            <a:ext cx="2867040" cy="1157760"/>
          </a:xfrm>
          <a:prstGeom prst="rect">
            <a:avLst/>
          </a:prstGeom>
          <a:ln w="0">
            <a:noFill/>
          </a:ln>
        </p:spPr>
      </p:pic>
      <p:sp>
        <p:nvSpPr>
          <p:cNvPr id="75" name="Google Shape;152;g3f19bc9ad7d_0_163"/>
          <p:cNvSpPr/>
          <p:nvPr/>
        </p:nvSpPr>
        <p:spPr>
          <a:xfrm>
            <a:off x="5559480" y="5048280"/>
            <a:ext cx="6527880" cy="172836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307af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6" name="Google Shape;153;g3f19bc9ad7d_0_163" descr=""/>
          <p:cNvPicPr/>
          <p:nvPr/>
        </p:nvPicPr>
        <p:blipFill>
          <a:blip r:embed="rId4"/>
          <a:stretch/>
        </p:blipFill>
        <p:spPr>
          <a:xfrm>
            <a:off x="8939520" y="1190160"/>
            <a:ext cx="1013400" cy="902520"/>
          </a:xfrm>
          <a:prstGeom prst="rect">
            <a:avLst/>
          </a:prstGeom>
          <a:ln w="0">
            <a:noFill/>
          </a:ln>
        </p:spPr>
      </p:pic>
      <p:sp>
        <p:nvSpPr>
          <p:cNvPr id="77" name="Google Shape;154;g3f19bc9ad7d_0_163"/>
          <p:cNvSpPr/>
          <p:nvPr/>
        </p:nvSpPr>
        <p:spPr>
          <a:xfrm>
            <a:off x="5667480" y="290160"/>
            <a:ext cx="6292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Desarrollo de Plugin de conversión Tiempo-Profundidad  para software Decision Space (DSG) V. 5000   </a:t>
            </a:r>
            <a:endParaRPr b="0" lang="es-CO" sz="1800" spc="-1" strike="noStrike">
              <a:latin typeface="Arial"/>
            </a:endParaRPr>
          </a:p>
        </p:txBody>
      </p:sp>
      <p:sp>
        <p:nvSpPr>
          <p:cNvPr id="78" name="Google Shape;155;g3f19bc9ad7d_0_163"/>
          <p:cNvSpPr/>
          <p:nvPr/>
        </p:nvSpPr>
        <p:spPr>
          <a:xfrm>
            <a:off x="10394280" y="1213200"/>
            <a:ext cx="166428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Aplicando </a:t>
            </a:r>
            <a:endParaRPr b="0" lang="es-CO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técnica de</a:t>
            </a:r>
            <a:endParaRPr b="0" lang="es-CO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 </a:t>
            </a:r>
            <a:r>
              <a:rPr b="0" lang="es-CO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rayo imagen</a:t>
            </a:r>
            <a:endParaRPr b="0" lang="es-CO" sz="1800" spc="-1" strike="noStrike">
              <a:latin typeface="Arial"/>
            </a:endParaRPr>
          </a:p>
        </p:txBody>
      </p:sp>
      <p:pic>
        <p:nvPicPr>
          <p:cNvPr id="79" name="Google Shape;156;g3f19bc9ad7d_0_163" descr=""/>
          <p:cNvPicPr/>
          <p:nvPr/>
        </p:nvPicPr>
        <p:blipFill>
          <a:blip r:embed="rId5"/>
          <a:stretch/>
        </p:blipFill>
        <p:spPr>
          <a:xfrm>
            <a:off x="1937520" y="3370320"/>
            <a:ext cx="2376000" cy="1322640"/>
          </a:xfrm>
          <a:prstGeom prst="rect">
            <a:avLst/>
          </a:prstGeom>
          <a:ln w="0">
            <a:noFill/>
          </a:ln>
        </p:spPr>
      </p:pic>
      <p:sp>
        <p:nvSpPr>
          <p:cNvPr id="80" name="Google Shape;157;g3f19bc9ad7d_0_163"/>
          <p:cNvSpPr/>
          <p:nvPr/>
        </p:nvSpPr>
        <p:spPr>
          <a:xfrm>
            <a:off x="5549760" y="2653920"/>
            <a:ext cx="6527880" cy="228672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307af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Google Shape;158;g3f19bc9ad7d_0_163"/>
          <p:cNvSpPr/>
          <p:nvPr/>
        </p:nvSpPr>
        <p:spPr>
          <a:xfrm>
            <a:off x="264600" y="2820600"/>
            <a:ext cx="4077720" cy="14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Desarrollo Módulo de picado interactivo </a:t>
            </a:r>
            <a:endParaRPr b="0" lang="es-CO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para software DecisionSpace Geosciences</a:t>
            </a:r>
            <a:endParaRPr b="0" lang="es-CO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-DSG</a:t>
            </a:r>
            <a:endParaRPr b="0" lang="es-CO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 </a:t>
            </a:r>
            <a:r>
              <a:rPr b="0" lang="es-CO" sz="1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V.10 EP.</a:t>
            </a:r>
            <a:endParaRPr b="0" lang="es-CO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s-CO" sz="1800" spc="-1" strike="noStrike">
              <a:latin typeface="Arial"/>
            </a:endParaRPr>
          </a:p>
        </p:txBody>
      </p:sp>
      <p:sp>
        <p:nvSpPr>
          <p:cNvPr id="82" name="Google Shape;159;g3f19bc9ad7d_0_163"/>
          <p:cNvSpPr/>
          <p:nvPr/>
        </p:nvSpPr>
        <p:spPr>
          <a:xfrm>
            <a:off x="220320" y="5251680"/>
            <a:ext cx="3387600" cy="12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6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Red neuronal convolucional</a:t>
            </a:r>
            <a:endParaRPr b="0" lang="es-CO" sz="16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6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para clasificación automática</a:t>
            </a:r>
            <a:endParaRPr b="0" lang="es-CO" sz="16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6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de patrones sedimentológicos</a:t>
            </a:r>
            <a:endParaRPr b="0" lang="es-CO" sz="16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6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en fotografías de núcleos de</a:t>
            </a:r>
            <a:endParaRPr b="0" lang="es-CO" sz="16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6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 </a:t>
            </a:r>
            <a:r>
              <a:rPr b="0" lang="es-CO" sz="16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roca.</a:t>
            </a:r>
            <a:endParaRPr b="0" lang="es-CO" sz="1600" spc="-1" strike="noStrike">
              <a:latin typeface="Arial"/>
            </a:endParaRPr>
          </a:p>
        </p:txBody>
      </p:sp>
      <p:pic>
        <p:nvPicPr>
          <p:cNvPr id="83" name="Google Shape;160;g3f19bc9ad7d_0_163" descr=""/>
          <p:cNvPicPr/>
          <p:nvPr/>
        </p:nvPicPr>
        <p:blipFill>
          <a:blip r:embed="rId6"/>
          <a:stretch/>
        </p:blipFill>
        <p:spPr>
          <a:xfrm>
            <a:off x="2966400" y="5066640"/>
            <a:ext cx="1575720" cy="1628640"/>
          </a:xfrm>
          <a:prstGeom prst="rect">
            <a:avLst/>
          </a:prstGeom>
          <a:ln w="0">
            <a:noFill/>
          </a:ln>
        </p:spPr>
      </p:pic>
      <p:pic>
        <p:nvPicPr>
          <p:cNvPr id="84" name="Google Shape;161;g3f19bc9ad7d_0_163" descr=""/>
          <p:cNvPicPr/>
          <p:nvPr/>
        </p:nvPicPr>
        <p:blipFill>
          <a:blip r:embed="rId7"/>
          <a:stretch/>
        </p:blipFill>
        <p:spPr>
          <a:xfrm>
            <a:off x="7131600" y="2251080"/>
            <a:ext cx="4828320" cy="2626920"/>
          </a:xfrm>
          <a:prstGeom prst="rect">
            <a:avLst/>
          </a:prstGeom>
          <a:ln w="0">
            <a:noFill/>
          </a:ln>
        </p:spPr>
      </p:pic>
      <p:sp>
        <p:nvSpPr>
          <p:cNvPr id="85" name="Google Shape;162;g3f19bc9ad7d_0_163"/>
          <p:cNvSpPr/>
          <p:nvPr/>
        </p:nvSpPr>
        <p:spPr>
          <a:xfrm>
            <a:off x="7614360" y="4510440"/>
            <a:ext cx="457668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6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Celda espectral en el rango ultravioleta</a:t>
            </a:r>
            <a:endParaRPr b="0" lang="es-CO" sz="1600" spc="-1" strike="noStrike">
              <a:latin typeface="Arial"/>
            </a:endParaRPr>
          </a:p>
        </p:txBody>
      </p:sp>
      <p:sp>
        <p:nvSpPr>
          <p:cNvPr id="86" name="Google Shape;163;g3f19bc9ad7d_0_163"/>
          <p:cNvSpPr/>
          <p:nvPr/>
        </p:nvSpPr>
        <p:spPr>
          <a:xfrm>
            <a:off x="5667480" y="2735640"/>
            <a:ext cx="201240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7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Monitoreo en tiempo</a:t>
            </a:r>
            <a:endParaRPr b="0" lang="es-CO" sz="17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7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real de nivel de </a:t>
            </a:r>
            <a:endParaRPr b="0" lang="es-CO" sz="17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7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fenoles en aguas</a:t>
            </a:r>
            <a:endParaRPr b="0" lang="es-CO" sz="17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7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 </a:t>
            </a:r>
            <a:r>
              <a:rPr b="0" lang="es-CO" sz="1700" spc="-1" strike="noStrike">
                <a:solidFill>
                  <a:srgbClr val="ffffff"/>
                </a:solidFill>
                <a:latin typeface="Quattrocento Sans"/>
                <a:ea typeface="Quattrocento Sans"/>
              </a:rPr>
              <a:t>de vertimiento.</a:t>
            </a:r>
            <a:endParaRPr b="0" lang="es-CO" sz="1700" spc="-1" strike="noStrike">
              <a:latin typeface="Arial"/>
            </a:endParaRPr>
          </a:p>
        </p:txBody>
      </p:sp>
      <p:pic>
        <p:nvPicPr>
          <p:cNvPr id="87" name="Google Shape;164;g3f19bc9ad7d_0_163" descr=""/>
          <p:cNvPicPr/>
          <p:nvPr/>
        </p:nvPicPr>
        <p:blipFill>
          <a:blip r:embed="rId8"/>
          <a:stretch/>
        </p:blipFill>
        <p:spPr>
          <a:xfrm>
            <a:off x="8679600" y="5114520"/>
            <a:ext cx="1558440" cy="1579680"/>
          </a:xfrm>
          <a:prstGeom prst="rect">
            <a:avLst/>
          </a:prstGeom>
          <a:ln w="0">
            <a:noFill/>
          </a:ln>
        </p:spPr>
      </p:pic>
      <p:pic>
        <p:nvPicPr>
          <p:cNvPr id="88" name="Google Shape;165;g3f19bc9ad7d_0_163" descr=""/>
          <p:cNvPicPr/>
          <p:nvPr/>
        </p:nvPicPr>
        <p:blipFill>
          <a:blip r:embed="rId9"/>
          <a:stretch/>
        </p:blipFill>
        <p:spPr>
          <a:xfrm>
            <a:off x="10324080" y="5114520"/>
            <a:ext cx="1558440" cy="1581120"/>
          </a:xfrm>
          <a:prstGeom prst="rect">
            <a:avLst/>
          </a:prstGeom>
          <a:ln w="0">
            <a:noFill/>
          </a:ln>
        </p:spPr>
      </p:pic>
      <p:sp>
        <p:nvSpPr>
          <p:cNvPr id="89" name="Google Shape;166;g3f19bc9ad7d_0_163"/>
          <p:cNvSpPr/>
          <p:nvPr/>
        </p:nvSpPr>
        <p:spPr>
          <a:xfrm>
            <a:off x="5814720" y="5142600"/>
            <a:ext cx="2541600" cy="155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CO" sz="17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Algoritmo y herramienta visualización 3D de la segmentación del histograma de la muestra de roca</a:t>
            </a:r>
            <a:endParaRPr b="0" lang="es-CO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64;p13" descr=""/>
          <p:cNvPicPr/>
          <p:nvPr/>
        </p:nvPicPr>
        <p:blipFill>
          <a:blip r:embed="rId1"/>
          <a:stretch/>
        </p:blipFill>
        <p:spPr>
          <a:xfrm>
            <a:off x="3203280" y="1377000"/>
            <a:ext cx="3276360" cy="242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87;p15" descr=""/>
          <p:cNvPicPr/>
          <p:nvPr/>
        </p:nvPicPr>
        <p:blipFill>
          <a:blip r:embed="rId1"/>
          <a:stretch/>
        </p:blipFill>
        <p:spPr>
          <a:xfrm>
            <a:off x="1771200" y="-177840"/>
            <a:ext cx="5788800" cy="719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220;g39633f12e6f_0_275" descr=""/>
          <p:cNvPicPr/>
          <p:nvPr/>
        </p:nvPicPr>
        <p:blipFill>
          <a:blip r:embed="rId1"/>
          <a:srcRect l="0" t="26398" r="0" b="0"/>
          <a:stretch/>
        </p:blipFill>
        <p:spPr>
          <a:xfrm>
            <a:off x="1568520" y="771840"/>
            <a:ext cx="10131480" cy="552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2022-10-06T10:51:30Z</dcterms:created>
  <dc:creator>Usuario</dc:creator>
  <dc:description/>
  <dc:language>es-CO</dc:language>
  <cp:lastModifiedBy/>
  <dcterms:modified xsi:type="dcterms:W3CDTF">2026-09-14T22:35:38Z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