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Oswald"/>
      <p:regular r:id="rId22"/>
      <p:bold r:id="rId23"/>
    </p:embeddedFont>
    <p:embeddedFont>
      <p:font typeface="Century Gothic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Oswald-regular.fntdata"/><Relationship Id="rId21" Type="http://schemas.openxmlformats.org/officeDocument/2006/relationships/slide" Target="slides/slide16.xml"/><Relationship Id="rId24" Type="http://schemas.openxmlformats.org/officeDocument/2006/relationships/font" Target="fonts/CenturyGothic-regular.fntdata"/><Relationship Id="rId23" Type="http://schemas.openxmlformats.org/officeDocument/2006/relationships/font" Target="fonts/Oswa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CenturyGothic-italic.fntdata"/><Relationship Id="rId25" Type="http://schemas.openxmlformats.org/officeDocument/2006/relationships/font" Target="fonts/CenturyGothic-bold.fntdata"/><Relationship Id="rId27" Type="http://schemas.openxmlformats.org/officeDocument/2006/relationships/font" Target="fonts/CenturyGothic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7b510bb7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97b510bb7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97b510bb7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97b510bb7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97b510bb7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97b510bb7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8ba315928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8ba315928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8ba315928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8ba315928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8c4796e53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8c4796e53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8ba315928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8ba315928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8c4796e53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8c4796e53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8c4796e53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a8c4796e5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8c4796e5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a8c4796e5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8c4796e5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a8c4796e5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8c4796e53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a8c4796e5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a8c4796e53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a8c4796e5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a8c4796e5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a8c4796e5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a8c7a314f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a8c7a314f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a8c4796e5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a8c4796e5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png"/><Relationship Id="rId4" Type="http://schemas.openxmlformats.org/officeDocument/2006/relationships/image" Target="../media/image1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2.png"/><Relationship Id="rId8" Type="http://schemas.openxmlformats.org/officeDocument/2006/relationships/image" Target="../media/image2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7.png"/><Relationship Id="rId4" Type="http://schemas.openxmlformats.org/officeDocument/2006/relationships/image" Target="../media/image17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2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hyperlink" Target="http://drive.google.com/file/d/1AHqFYj6SYMSlytdgyv8D5ZcxB1dflu63/view" TargetMode="External"/><Relationship Id="rId5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5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14.png"/><Relationship Id="rId6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2960038" y="1133925"/>
            <a:ext cx="3371700" cy="2667000"/>
          </a:xfrm>
          <a:prstGeom prst="flowChartAlternateProcess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6495137" y="1133925"/>
            <a:ext cx="2621700" cy="2667000"/>
          </a:xfrm>
          <a:prstGeom prst="flowChartAlternateProcess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3">
            <a:alphaModFix/>
          </a:blip>
          <a:srcRect b="1019" l="58842" r="-49859" t="1009"/>
          <a:stretch/>
        </p:blipFill>
        <p:spPr>
          <a:xfrm>
            <a:off x="12934" y="0"/>
            <a:ext cx="6303377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2650" y="227525"/>
            <a:ext cx="2533625" cy="125155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2893775" y="99775"/>
            <a:ext cx="6250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ANÁLISIS AGRO GEOFÍSICO  - Lote 10 años espacio-espectral-temporal enero 2025 - marzo 2026</a:t>
            </a:r>
            <a:endParaRPr b="1" sz="1800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59" name="Google Shape;59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96276" y="3897225"/>
            <a:ext cx="1237375" cy="164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 title="intro_2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44076" y="1340325"/>
            <a:ext cx="2533626" cy="225419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3"/>
          <p:cNvPicPr preferRelativeResize="0"/>
          <p:nvPr/>
        </p:nvPicPr>
        <p:blipFill rotWithShape="1">
          <a:blip r:embed="rId7">
            <a:alphaModFix/>
          </a:blip>
          <a:srcRect b="32158" l="0" r="0" t="33364"/>
          <a:stretch/>
        </p:blipFill>
        <p:spPr>
          <a:xfrm>
            <a:off x="7822101" y="4681184"/>
            <a:ext cx="1294724" cy="4464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3"/>
          <p:cNvSpPr txBox="1"/>
          <p:nvPr/>
        </p:nvSpPr>
        <p:spPr>
          <a:xfrm>
            <a:off x="4996439" y="3468100"/>
            <a:ext cx="1181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rgbClr val="38761D"/>
                </a:solidFill>
                <a:latin typeface="Oswald"/>
                <a:ea typeface="Oswald"/>
                <a:cs typeface="Oswald"/>
                <a:sym typeface="Oswald"/>
              </a:rPr>
              <a:t>Cultivo</a:t>
            </a:r>
            <a:endParaRPr sz="1700">
              <a:solidFill>
                <a:srgbClr val="38761D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7935714" y="3468100"/>
            <a:ext cx="1181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rgbClr val="38761D"/>
                </a:solidFill>
                <a:latin typeface="Oswald"/>
                <a:ea typeface="Oswald"/>
                <a:cs typeface="Oswald"/>
                <a:sym typeface="Oswald"/>
              </a:rPr>
              <a:t>Suelo</a:t>
            </a:r>
            <a:endParaRPr sz="1700">
              <a:solidFill>
                <a:srgbClr val="38761D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64" name="Google Shape;64;p13" title="intro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003793" y="1186842"/>
            <a:ext cx="3277524" cy="2423711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3"/>
          <p:cNvSpPr txBox="1"/>
          <p:nvPr/>
        </p:nvSpPr>
        <p:spPr>
          <a:xfrm>
            <a:off x="4329345" y="4728000"/>
            <a:ext cx="3915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FF99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</a:t>
            </a:r>
            <a:r>
              <a:rPr lang="es" sz="1500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gricultura más </a:t>
            </a:r>
            <a:r>
              <a:rPr b="1" lang="es" sz="1500">
                <a:solidFill>
                  <a:srgbClr val="FF99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</a:t>
            </a:r>
            <a:r>
              <a:rPr lang="es" sz="1500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nteligente con</a:t>
            </a:r>
            <a:endParaRPr sz="1500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321"/>
            <a:ext cx="9143998" cy="5138858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4" title="shape_graphic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27200" y="1698450"/>
            <a:ext cx="1105900" cy="1371849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4"/>
          <p:cNvSpPr txBox="1"/>
          <p:nvPr/>
        </p:nvSpPr>
        <p:spPr>
          <a:xfrm>
            <a:off x="5997525" y="4818150"/>
            <a:ext cx="2586000" cy="3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60375" lIns="60375" spcFirstLastPara="1" rIns="60375" wrap="square" tIns="60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21">
                <a:solidFill>
                  <a:srgbClr val="FF9900"/>
                </a:solidFill>
                <a:latin typeface="Oswald"/>
                <a:ea typeface="Oswald"/>
                <a:cs typeface="Oswald"/>
                <a:sym typeface="Oswald"/>
              </a:rPr>
              <a:t>A</a:t>
            </a:r>
            <a:r>
              <a:rPr lang="es" sz="1321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gricultura más </a:t>
            </a:r>
            <a:r>
              <a:rPr b="1" lang="es" sz="1321">
                <a:solidFill>
                  <a:srgbClr val="FF9900"/>
                </a:solidFill>
                <a:latin typeface="Oswald"/>
                <a:ea typeface="Oswald"/>
                <a:cs typeface="Oswald"/>
                <a:sym typeface="Oswald"/>
              </a:rPr>
              <a:t>I</a:t>
            </a:r>
            <a:r>
              <a:rPr lang="es" sz="1321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nteligente con</a:t>
            </a:r>
            <a:endParaRPr sz="1321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75" name="Google Shape;75;p14"/>
          <p:cNvPicPr preferRelativeResize="0"/>
          <p:nvPr/>
        </p:nvPicPr>
        <p:blipFill rotWithShape="1">
          <a:blip r:embed="rId5">
            <a:alphaModFix/>
          </a:blip>
          <a:srcRect b="32158" l="0" r="0" t="33364"/>
          <a:stretch/>
        </p:blipFill>
        <p:spPr>
          <a:xfrm>
            <a:off x="8274641" y="4838152"/>
            <a:ext cx="855143" cy="29484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4"/>
          <p:cNvSpPr txBox="1"/>
          <p:nvPr/>
        </p:nvSpPr>
        <p:spPr>
          <a:xfrm>
            <a:off x="4500800" y="75975"/>
            <a:ext cx="4292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60375" lIns="60375" spcFirstLastPara="1" rIns="60375" wrap="square" tIns="60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21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Área de estudio -  Empresa Prestige</a:t>
            </a:r>
            <a:endParaRPr sz="1821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5431375" y="589625"/>
            <a:ext cx="36984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entury Gothic"/>
              <a:buChar char="❏"/>
            </a:pPr>
            <a:r>
              <a:rPr lang="es" sz="13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Edad:             10 </a:t>
            </a:r>
            <a:r>
              <a:rPr lang="es" sz="13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años</a:t>
            </a:r>
            <a:r>
              <a:rPr lang="es" sz="13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sz="13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entury Gothic"/>
              <a:buChar char="❏"/>
            </a:pPr>
            <a:r>
              <a:rPr lang="es" sz="13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Área:              60 ha (Aprox.)</a:t>
            </a:r>
            <a:endParaRPr sz="13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entury Gothic"/>
              <a:buChar char="❏"/>
            </a:pPr>
            <a:r>
              <a:rPr lang="es" sz="13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Ubicación</a:t>
            </a:r>
            <a:r>
              <a:rPr lang="es" sz="13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    Vichada, Colombia (5°57'29.31"N       69°17'48.34"W)</a:t>
            </a:r>
            <a:endParaRPr sz="13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entury Gothic"/>
              <a:buChar char="❏"/>
            </a:pPr>
            <a:r>
              <a:rPr lang="es" sz="13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Periodo:         Enero 2025 - Marzo 2026 (14 meses, 12 fechas </a:t>
            </a:r>
            <a:r>
              <a:rPr lang="es" sz="13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válidas</a:t>
            </a:r>
            <a:r>
              <a:rPr lang="es" sz="13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</a:t>
            </a:r>
            <a:endParaRPr sz="13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5"/>
          <p:cNvPicPr preferRelativeResize="0"/>
          <p:nvPr/>
        </p:nvPicPr>
        <p:blipFill rotWithShape="1">
          <a:blip r:embed="rId3">
            <a:alphaModFix/>
          </a:blip>
          <a:srcRect b="32158" l="0" r="0" t="33364"/>
          <a:stretch/>
        </p:blipFill>
        <p:spPr>
          <a:xfrm>
            <a:off x="8312969" y="20002"/>
            <a:ext cx="855143" cy="294844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5"/>
          <p:cNvSpPr txBox="1"/>
          <p:nvPr/>
        </p:nvSpPr>
        <p:spPr>
          <a:xfrm>
            <a:off x="6048812" y="0"/>
            <a:ext cx="2586000" cy="3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60375" lIns="60375" spcFirstLastPara="1" rIns="60375" wrap="square" tIns="60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21">
                <a:solidFill>
                  <a:srgbClr val="FF9900"/>
                </a:solidFill>
                <a:latin typeface="Oswald"/>
                <a:ea typeface="Oswald"/>
                <a:cs typeface="Oswald"/>
                <a:sym typeface="Oswald"/>
              </a:rPr>
              <a:t>A</a:t>
            </a:r>
            <a:r>
              <a:rPr lang="es" sz="1321">
                <a:solidFill>
                  <a:srgbClr val="38761D"/>
                </a:solidFill>
                <a:latin typeface="Oswald"/>
                <a:ea typeface="Oswald"/>
                <a:cs typeface="Oswald"/>
                <a:sym typeface="Oswald"/>
              </a:rPr>
              <a:t>gricultura más </a:t>
            </a:r>
            <a:r>
              <a:rPr b="1" lang="es" sz="1321">
                <a:solidFill>
                  <a:srgbClr val="FF9900"/>
                </a:solidFill>
                <a:latin typeface="Oswald"/>
                <a:ea typeface="Oswald"/>
                <a:cs typeface="Oswald"/>
                <a:sym typeface="Oswald"/>
              </a:rPr>
              <a:t>I</a:t>
            </a:r>
            <a:r>
              <a:rPr lang="es" sz="1321">
                <a:solidFill>
                  <a:srgbClr val="38761D"/>
                </a:solidFill>
                <a:latin typeface="Oswald"/>
                <a:ea typeface="Oswald"/>
                <a:cs typeface="Oswald"/>
                <a:sym typeface="Oswald"/>
              </a:rPr>
              <a:t>nteligente con</a:t>
            </a:r>
            <a:endParaRPr sz="1321">
              <a:solidFill>
                <a:srgbClr val="38761D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0" y="0"/>
            <a:ext cx="45252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375" lIns="60375" spcFirstLastPara="1" rIns="60375" wrap="square" tIns="60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Entradas para los modelos de IA</a:t>
            </a:r>
            <a:endParaRPr b="1" sz="2021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5" name="Google Shape;85;p15"/>
          <p:cNvSpPr txBox="1"/>
          <p:nvPr/>
        </p:nvSpPr>
        <p:spPr>
          <a:xfrm>
            <a:off x="129600" y="623800"/>
            <a:ext cx="3448500" cy="47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entury Gothic"/>
              <a:buChar char="❏"/>
            </a:pPr>
            <a:r>
              <a:rPr b="1" lang="es" sz="1200">
                <a:latin typeface="Century Gothic"/>
                <a:ea typeface="Century Gothic"/>
                <a:cs typeface="Century Gothic"/>
                <a:sym typeface="Century Gothic"/>
              </a:rPr>
              <a:t>Imagen satelital Radar (Libre)</a:t>
            </a:r>
            <a:endParaRPr b="1" sz="12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entury Gothic"/>
              <a:buChar char="❏"/>
            </a:pPr>
            <a:r>
              <a:rPr lang="es" sz="1200">
                <a:latin typeface="Century Gothic"/>
                <a:ea typeface="Century Gothic"/>
                <a:cs typeface="Century Gothic"/>
                <a:sym typeface="Century Gothic"/>
              </a:rPr>
              <a:t>Temporalidad: 15 </a:t>
            </a:r>
            <a:r>
              <a:rPr lang="es" sz="1200">
                <a:latin typeface="Century Gothic"/>
                <a:ea typeface="Century Gothic"/>
                <a:cs typeface="Century Gothic"/>
                <a:sym typeface="Century Gothic"/>
              </a:rPr>
              <a:t>días</a:t>
            </a:r>
            <a:endParaRPr sz="12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entury Gothic"/>
              <a:buChar char="❏"/>
            </a:pPr>
            <a:r>
              <a:rPr lang="es" sz="1200">
                <a:latin typeface="Century Gothic"/>
                <a:ea typeface="Century Gothic"/>
                <a:cs typeface="Century Gothic"/>
                <a:sym typeface="Century Gothic"/>
              </a:rPr>
              <a:t>Cantidad:    </a:t>
            </a:r>
            <a:r>
              <a:rPr lang="es" sz="1200">
                <a:latin typeface="Century Gothic"/>
                <a:ea typeface="Century Gothic"/>
                <a:cs typeface="Century Gothic"/>
                <a:sym typeface="Century Gothic"/>
              </a:rPr>
              <a:t>   l9 </a:t>
            </a:r>
            <a:r>
              <a:rPr lang="es" sz="1200">
                <a:latin typeface="Century Gothic"/>
                <a:ea typeface="Century Gothic"/>
                <a:cs typeface="Century Gothic"/>
                <a:sym typeface="Century Gothic"/>
              </a:rPr>
              <a:t>imágenes</a:t>
            </a:r>
            <a:endParaRPr sz="12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entury Gothic"/>
              <a:buChar char="❏"/>
            </a:pPr>
            <a:r>
              <a:rPr lang="es" sz="1200">
                <a:latin typeface="Century Gothic"/>
                <a:ea typeface="Century Gothic"/>
                <a:cs typeface="Century Gothic"/>
                <a:sym typeface="Century Gothic"/>
              </a:rPr>
              <a:t>Resolución espacial: 10 m</a:t>
            </a:r>
            <a:endParaRPr sz="12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Century Gothic"/>
              <a:buChar char="❏"/>
            </a:pPr>
            <a:r>
              <a:rPr b="1" lang="es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Imagen satelital Óptica Sentinel 2 (Libre)</a:t>
            </a:r>
            <a:endParaRPr b="1" sz="12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❏"/>
            </a:pPr>
            <a:r>
              <a:rPr lang="es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Temporalidad: baja por nubes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❏"/>
            </a:pPr>
            <a:r>
              <a:rPr lang="es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Cantidad:        4 imágenes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entury Gothic"/>
              <a:buChar char="❏"/>
            </a:pPr>
            <a:r>
              <a:rPr lang="es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Resolución espacial: 10 m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0" marL="4572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❏"/>
            </a:pPr>
            <a:r>
              <a:rPr b="1" lang="es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Imagen satelital Óptica Multiespectral (Comercial) </a:t>
            </a:r>
            <a:endParaRPr b="1"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❏"/>
            </a:pPr>
            <a:r>
              <a:rPr lang="es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Temporalidad: mensual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❏"/>
            </a:pPr>
            <a:r>
              <a:rPr lang="es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Cantidad:        12 imágenes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❏"/>
            </a:pPr>
            <a:r>
              <a:rPr lang="es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Resolución espacial: 3.7 m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❏"/>
            </a:pPr>
            <a:r>
              <a:rPr lang="es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Resolución espectral: 8 bandas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9144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0" marL="4572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❏"/>
            </a:pPr>
            <a:r>
              <a:rPr b="1" lang="es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Modelo de elevación digital</a:t>
            </a:r>
            <a:endParaRPr b="1"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❏"/>
            </a:pPr>
            <a:r>
              <a:rPr lang="es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30 m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12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86" name="Google Shape;86;p15" title="pipelin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50825" y="3428400"/>
            <a:ext cx="5593175" cy="171509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pic>
      <p:pic>
        <p:nvPicPr>
          <p:cNvPr id="87" name="Google Shape;87;p15" title="image1-2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49875" y="149025"/>
            <a:ext cx="2938923" cy="3654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6"/>
          <p:cNvPicPr preferRelativeResize="0"/>
          <p:nvPr/>
        </p:nvPicPr>
        <p:blipFill rotWithShape="1">
          <a:blip r:embed="rId3">
            <a:alphaModFix/>
          </a:blip>
          <a:srcRect b="32158" l="0" r="0" t="33364"/>
          <a:stretch/>
        </p:blipFill>
        <p:spPr>
          <a:xfrm>
            <a:off x="8288857" y="-50373"/>
            <a:ext cx="855143" cy="294844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6"/>
          <p:cNvSpPr txBox="1"/>
          <p:nvPr/>
        </p:nvSpPr>
        <p:spPr>
          <a:xfrm>
            <a:off x="0" y="0"/>
            <a:ext cx="45252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375" lIns="60375" spcFirstLastPara="1" rIns="60375" wrap="square" tIns="60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Dashboard Inteligente</a:t>
            </a:r>
            <a:endParaRPr sz="2021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4" name="Google Shape;94;p16" title="Grabación de pantalla desde 26-05-26 17:07:45.webm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4588" y="574171"/>
            <a:ext cx="8261673" cy="45693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7" title="image1-26.png"/>
          <p:cNvPicPr preferRelativeResize="0"/>
          <p:nvPr/>
        </p:nvPicPr>
        <p:blipFill rotWithShape="1">
          <a:blip r:embed="rId3">
            <a:alphaModFix/>
          </a:blip>
          <a:srcRect b="3550" l="3097" r="3068" t="5665"/>
          <a:stretch/>
        </p:blipFill>
        <p:spPr>
          <a:xfrm>
            <a:off x="589088" y="567775"/>
            <a:ext cx="7965824" cy="4560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7"/>
          <p:cNvPicPr preferRelativeResize="0"/>
          <p:nvPr/>
        </p:nvPicPr>
        <p:blipFill rotWithShape="1">
          <a:blip r:embed="rId4">
            <a:alphaModFix/>
          </a:blip>
          <a:srcRect b="32158" l="0" r="0" t="33364"/>
          <a:stretch/>
        </p:blipFill>
        <p:spPr>
          <a:xfrm>
            <a:off x="8261682" y="4838152"/>
            <a:ext cx="855143" cy="294844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7"/>
          <p:cNvSpPr txBox="1"/>
          <p:nvPr/>
        </p:nvSpPr>
        <p:spPr>
          <a:xfrm>
            <a:off x="5698587" y="4818150"/>
            <a:ext cx="25860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375" lIns="60375" spcFirstLastPara="1" rIns="60375" wrap="square" tIns="60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21">
                <a:solidFill>
                  <a:srgbClr val="FF99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</a:t>
            </a:r>
            <a:r>
              <a:rPr lang="es" sz="12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gricultura más </a:t>
            </a:r>
            <a:r>
              <a:rPr b="1" lang="es" sz="1221">
                <a:solidFill>
                  <a:srgbClr val="FF99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</a:t>
            </a:r>
            <a:r>
              <a:rPr lang="es" sz="12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nteligente con</a:t>
            </a:r>
            <a:endParaRPr sz="1221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2" name="Google Shape;102;p17"/>
          <p:cNvSpPr txBox="1"/>
          <p:nvPr/>
        </p:nvSpPr>
        <p:spPr>
          <a:xfrm>
            <a:off x="0" y="0"/>
            <a:ext cx="77037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375" lIns="60375" spcFirstLastPara="1" rIns="60375" wrap="square" tIns="60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Histórico</a:t>
            </a:r>
            <a:r>
              <a:rPr lang="es" sz="20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Satelital 3.7metros   -   ene/2025 a mar/2026</a:t>
            </a:r>
            <a:endParaRPr sz="2021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3" name="Google Shape;103;p17"/>
          <p:cNvSpPr txBox="1"/>
          <p:nvPr/>
        </p:nvSpPr>
        <p:spPr>
          <a:xfrm>
            <a:off x="3756076" y="3783575"/>
            <a:ext cx="4747800" cy="8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375" lIns="60375" spcFirstLastPara="1" rIns="60375" wrap="square" tIns="60375">
            <a:spAutoFit/>
          </a:bodyPr>
          <a:lstStyle/>
          <a:p>
            <a:pPr indent="-331532" lvl="0" marL="457200" rtl="0" algn="l">
              <a:spcBef>
                <a:spcPts val="0"/>
              </a:spcBef>
              <a:spcAft>
                <a:spcPts val="0"/>
              </a:spcAft>
              <a:buSzPts val="1621"/>
              <a:buFont typeface="Century Gothic"/>
              <a:buChar char="●"/>
            </a:pPr>
            <a:r>
              <a:rPr lang="es" sz="16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Evolución</a:t>
            </a:r>
            <a:r>
              <a:rPr lang="es" sz="16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temporal</a:t>
            </a:r>
            <a:r>
              <a:rPr b="1" lang="es" sz="1621">
                <a:solidFill>
                  <a:srgbClr val="FF99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s" sz="16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del cultivo</a:t>
            </a:r>
            <a:endParaRPr sz="1621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31532" lvl="0" marL="4572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621"/>
              <a:buFont typeface="Century Gothic"/>
              <a:buChar char="●"/>
            </a:pPr>
            <a:r>
              <a:rPr lang="es" sz="16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Identificación de focos de mortalidad</a:t>
            </a:r>
            <a:endParaRPr sz="1621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31532" lvl="0" marL="4572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621"/>
              <a:buFont typeface="Century Gothic"/>
              <a:buChar char="●"/>
            </a:pPr>
            <a:r>
              <a:rPr lang="es" sz="16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Detalles informe detallado</a:t>
            </a:r>
            <a:endParaRPr sz="1621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650" y="630150"/>
            <a:ext cx="7442660" cy="451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8"/>
          <p:cNvPicPr preferRelativeResize="0"/>
          <p:nvPr/>
        </p:nvPicPr>
        <p:blipFill rotWithShape="1">
          <a:blip r:embed="rId4">
            <a:alphaModFix/>
          </a:blip>
          <a:srcRect b="32158" l="0" r="0" t="33364"/>
          <a:stretch/>
        </p:blipFill>
        <p:spPr>
          <a:xfrm>
            <a:off x="8261682" y="4838152"/>
            <a:ext cx="855143" cy="294844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8"/>
          <p:cNvSpPr txBox="1"/>
          <p:nvPr/>
        </p:nvSpPr>
        <p:spPr>
          <a:xfrm>
            <a:off x="5698587" y="4818150"/>
            <a:ext cx="25860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375" lIns="60375" spcFirstLastPara="1" rIns="60375" wrap="square" tIns="60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21">
                <a:solidFill>
                  <a:srgbClr val="FF99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</a:t>
            </a:r>
            <a:r>
              <a:rPr lang="es" sz="12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gricultura más </a:t>
            </a:r>
            <a:r>
              <a:rPr b="1" lang="es" sz="1221">
                <a:solidFill>
                  <a:srgbClr val="FF99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</a:t>
            </a:r>
            <a:r>
              <a:rPr lang="es" sz="12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nteligente con</a:t>
            </a:r>
            <a:endParaRPr sz="1221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1" name="Google Shape;111;p18"/>
          <p:cNvSpPr txBox="1"/>
          <p:nvPr/>
        </p:nvSpPr>
        <p:spPr>
          <a:xfrm>
            <a:off x="0" y="0"/>
            <a:ext cx="9144000" cy="4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60375" lIns="60375" spcFirstLastPara="1" rIns="60375" wrap="square" tIns="60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1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 revelan </a:t>
            </a:r>
            <a:r>
              <a:rPr lang="es" sz="21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más</a:t>
            </a:r>
            <a:r>
              <a:rPr lang="es" sz="21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10 </a:t>
            </a:r>
            <a:r>
              <a:rPr lang="es" sz="21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índices</a:t>
            </a:r>
            <a:r>
              <a:rPr lang="es" sz="21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tu cultivo - </a:t>
            </a:r>
            <a:r>
              <a:rPr b="1" lang="es" sz="21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Vigor del cultivo</a:t>
            </a:r>
            <a:endParaRPr b="1" sz="2121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" name="Google Shape;112;p18"/>
          <p:cNvSpPr/>
          <p:nvPr/>
        </p:nvSpPr>
        <p:spPr>
          <a:xfrm>
            <a:off x="3149400" y="3880925"/>
            <a:ext cx="5882100" cy="95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8"/>
          <p:cNvSpPr txBox="1"/>
          <p:nvPr/>
        </p:nvSpPr>
        <p:spPr>
          <a:xfrm>
            <a:off x="3214500" y="3832950"/>
            <a:ext cx="57519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 u="sng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FOCOS DE MORTALIDAD O ESTRÉS:</a:t>
            </a:r>
            <a:r>
              <a:rPr b="1" lang="es" sz="1300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s" sz="13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R_STRUCTURE expresa qué tan </a:t>
            </a:r>
            <a:r>
              <a:rPr b="1" lang="es" sz="1300" u="sng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uniforme es la estructura del dosel del cultivo</a:t>
            </a:r>
            <a:r>
              <a:rPr lang="es" sz="13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</a:t>
            </a:r>
            <a:endParaRPr sz="13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valores altos = copas continuas y dosel denso; </a:t>
            </a:r>
            <a:endParaRPr sz="13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valores bajos = vacíos, </a:t>
            </a:r>
            <a:r>
              <a:rPr b="1" lang="es" sz="1300" u="sng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plantas faltantes o zonas </a:t>
            </a:r>
            <a:r>
              <a:rPr lang="es" sz="13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donde hay </a:t>
            </a:r>
            <a:r>
              <a:rPr b="1" lang="es" sz="1300" u="sng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estr</a:t>
            </a:r>
            <a:r>
              <a:rPr b="1" lang="es" sz="1300" u="sng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é</a:t>
            </a:r>
            <a:r>
              <a:rPr b="1" lang="es" sz="1300" u="sng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 </a:t>
            </a:r>
            <a:r>
              <a:rPr lang="es" sz="13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moderado por </a:t>
            </a:r>
            <a:r>
              <a:rPr b="1" lang="es" sz="1300" u="sng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baja </a:t>
            </a:r>
            <a:r>
              <a:rPr b="1" lang="es" sz="1300" u="sng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densidad</a:t>
            </a:r>
            <a:r>
              <a:rPr b="1" lang="es" sz="1300" u="sng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foliar</a:t>
            </a:r>
            <a:endParaRPr b="1" sz="1700" u="sng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14" name="Google Shape;114;p18"/>
          <p:cNvPicPr preferRelativeResize="0"/>
          <p:nvPr/>
        </p:nvPicPr>
        <p:blipFill rotWithShape="1">
          <a:blip r:embed="rId5">
            <a:alphaModFix/>
          </a:blip>
          <a:srcRect b="77092" l="0" r="0" t="0"/>
          <a:stretch/>
        </p:blipFill>
        <p:spPr>
          <a:xfrm rot="-5400000">
            <a:off x="-1481450" y="3062426"/>
            <a:ext cx="3562524" cy="599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19650"/>
            <a:ext cx="7456432" cy="4513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9"/>
          <p:cNvPicPr preferRelativeResize="0"/>
          <p:nvPr/>
        </p:nvPicPr>
        <p:blipFill rotWithShape="1">
          <a:blip r:embed="rId4">
            <a:alphaModFix/>
          </a:blip>
          <a:srcRect b="0" l="0" r="33603" t="38830"/>
          <a:stretch/>
        </p:blipFill>
        <p:spPr>
          <a:xfrm>
            <a:off x="5488200" y="3602650"/>
            <a:ext cx="3159324" cy="1402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9"/>
          <p:cNvPicPr preferRelativeResize="0"/>
          <p:nvPr/>
        </p:nvPicPr>
        <p:blipFill rotWithShape="1">
          <a:blip r:embed="rId4">
            <a:alphaModFix/>
          </a:blip>
          <a:srcRect b="76111" l="0" r="17580" t="0"/>
          <a:stretch/>
        </p:blipFill>
        <p:spPr>
          <a:xfrm>
            <a:off x="714600" y="4640850"/>
            <a:ext cx="3523050" cy="4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9"/>
          <p:cNvSpPr txBox="1"/>
          <p:nvPr/>
        </p:nvSpPr>
        <p:spPr>
          <a:xfrm>
            <a:off x="0" y="0"/>
            <a:ext cx="9144000" cy="4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60375" lIns="60375" spcFirstLastPara="1" rIns="60375" wrap="square" tIns="60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1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Observado </a:t>
            </a:r>
            <a:r>
              <a:rPr lang="es" sz="21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 través</a:t>
            </a:r>
            <a:r>
              <a:rPr lang="es" sz="21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las nubes</a:t>
            </a:r>
            <a:r>
              <a:rPr lang="es" sz="21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- </a:t>
            </a:r>
            <a:r>
              <a:rPr b="1" lang="es" sz="21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otra alternativa</a:t>
            </a:r>
            <a:endParaRPr b="1" sz="2121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050" y="629825"/>
            <a:ext cx="4358768" cy="2626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0"/>
          <p:cNvSpPr txBox="1"/>
          <p:nvPr/>
        </p:nvSpPr>
        <p:spPr>
          <a:xfrm>
            <a:off x="0" y="0"/>
            <a:ext cx="9144000" cy="4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60375" lIns="60375" spcFirstLastPara="1" rIns="60375" wrap="square" tIns="60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1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Descubriendo la </a:t>
            </a:r>
            <a:r>
              <a:rPr lang="es" sz="21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heterogeneidad</a:t>
            </a:r>
            <a:r>
              <a:rPr lang="es" sz="21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en mi </a:t>
            </a:r>
            <a:r>
              <a:rPr lang="es" sz="21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cultivo    - Cluster</a:t>
            </a:r>
            <a:endParaRPr b="1" sz="2121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9" name="Google Shape;129;p20" title="image1-2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40825" y="585875"/>
            <a:ext cx="4658176" cy="2165324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0"/>
          <p:cNvSpPr txBox="1"/>
          <p:nvPr/>
        </p:nvSpPr>
        <p:spPr>
          <a:xfrm>
            <a:off x="1445100" y="2818113"/>
            <a:ext cx="76989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60375" lIns="60375" spcFirstLastPara="1" rIns="60375" wrap="square" tIns="60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Realmente</a:t>
            </a:r>
            <a:r>
              <a:rPr lang="es" sz="16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lo importante  -  </a:t>
            </a:r>
            <a:r>
              <a:rPr lang="es" sz="16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análisis</a:t>
            </a:r>
            <a:r>
              <a:rPr lang="es" sz="16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cruzado por funcionalidad</a:t>
            </a:r>
            <a:endParaRPr b="1" sz="1621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1" name="Google Shape;131;p20"/>
          <p:cNvSpPr txBox="1"/>
          <p:nvPr/>
        </p:nvSpPr>
        <p:spPr>
          <a:xfrm>
            <a:off x="40950" y="3256450"/>
            <a:ext cx="9062100" cy="18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49225" lvl="0" marL="900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entury Gothic"/>
              <a:buChar char="●"/>
            </a:pPr>
            <a:r>
              <a:rPr b="1" lang="es" sz="1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Vigor (NDVI, EVI, KNDVI, MSAVI2, MTVI2):</a:t>
            </a:r>
            <a:r>
              <a:rPr lang="es" sz="1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Separan palmas productivas (azul) de </a:t>
            </a:r>
            <a:r>
              <a:rPr lang="es" sz="1000" u="sng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palmas con fotosíntesis reducida</a:t>
            </a:r>
            <a:r>
              <a:rPr lang="es" sz="1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(naranja). </a:t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49225" lvl="0" marL="900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entury Gothic"/>
              <a:buChar char="●"/>
            </a:pPr>
            <a:r>
              <a:rPr b="1" lang="es" sz="1000" u="sng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Clorofila </a:t>
            </a:r>
            <a:r>
              <a:rPr b="1" lang="es" sz="1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(CIre, MCARI, NDRE, TGI):</a:t>
            </a:r>
            <a:r>
              <a:rPr lang="es" sz="1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s" sz="1000" u="sng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 grupo más revelador</a:t>
            </a:r>
            <a:r>
              <a:rPr lang="es" sz="1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 El naranja en estos índices s</a:t>
            </a:r>
            <a:r>
              <a:rPr lang="es" sz="1000" u="sng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eñala deficiencia nutricional directa</a:t>
            </a:r>
            <a:r>
              <a:rPr lang="es" sz="1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— bajo contenido de clorofila implica </a:t>
            </a:r>
            <a:r>
              <a:rPr lang="es" sz="1000" u="sng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falta de N, Mg o Fe</a:t>
            </a:r>
            <a:r>
              <a:rPr lang="es" sz="1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 MCARI y NDRE muestran patrones espaciales diferentes entre sí, lo que sugiere que capturan problemas nutricionales distintos.</a:t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49225" lvl="0" marL="900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entury Gothic"/>
              <a:buChar char="●"/>
            </a:pPr>
            <a:r>
              <a:rPr b="1" lang="es" sz="1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Verdor (GIYI, VARI):</a:t>
            </a:r>
            <a:r>
              <a:rPr lang="es" sz="1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Patrón más fragmentado. Captan diferencias visuales de color foliar. Menos peso diagnóstico que los de clorofila.</a:t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49225" lvl="0" marL="900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entury Gothic"/>
              <a:buChar char="●"/>
            </a:pPr>
            <a:r>
              <a:rPr b="1" lang="es" sz="1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Estructura (R_structure):</a:t>
            </a:r>
            <a:r>
              <a:rPr lang="es" sz="1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Revela la estructura de dosel  y la degradaci</a:t>
            </a:r>
            <a:r>
              <a:rPr lang="es" sz="1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ón foliar</a:t>
            </a:r>
            <a:r>
              <a:rPr lang="es" sz="1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3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La clave está en dónde el naranja coincide entre grupos: si una zona es naranja en vigor + clorofila + estructura simultáneamente, </a:t>
            </a:r>
            <a:r>
              <a:rPr lang="es" sz="1300" u="sng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 crítica.</a:t>
            </a:r>
            <a:r>
              <a:rPr lang="es" sz="13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Si solo es naranja en un grupo, el problema es específico y corregible.</a:t>
            </a:r>
            <a:endParaRPr sz="13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1"/>
          <p:cNvPicPr preferRelativeResize="0"/>
          <p:nvPr/>
        </p:nvPicPr>
        <p:blipFill rotWithShape="1">
          <a:blip r:embed="rId3">
            <a:alphaModFix/>
          </a:blip>
          <a:srcRect b="32158" l="0" r="0" t="33364"/>
          <a:stretch/>
        </p:blipFill>
        <p:spPr>
          <a:xfrm>
            <a:off x="8261682" y="4838152"/>
            <a:ext cx="855143" cy="294844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1"/>
          <p:cNvSpPr txBox="1"/>
          <p:nvPr/>
        </p:nvSpPr>
        <p:spPr>
          <a:xfrm>
            <a:off x="5698587" y="4818150"/>
            <a:ext cx="25860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375" lIns="60375" spcFirstLastPara="1" rIns="60375" wrap="square" tIns="60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21">
                <a:solidFill>
                  <a:srgbClr val="FF99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</a:t>
            </a:r>
            <a:r>
              <a:rPr lang="es" sz="12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gricultura más </a:t>
            </a:r>
            <a:r>
              <a:rPr b="1" lang="es" sz="1221">
                <a:solidFill>
                  <a:srgbClr val="FF99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</a:t>
            </a:r>
            <a:r>
              <a:rPr lang="es" sz="12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nteligente con</a:t>
            </a:r>
            <a:endParaRPr sz="1221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38" name="Google Shape;138;p21"/>
          <p:cNvPicPr preferRelativeResize="0"/>
          <p:nvPr/>
        </p:nvPicPr>
        <p:blipFill rotWithShape="1">
          <a:blip r:embed="rId4">
            <a:alphaModFix/>
          </a:blip>
          <a:srcRect b="0" l="0" r="0" t="53254"/>
          <a:stretch/>
        </p:blipFill>
        <p:spPr>
          <a:xfrm>
            <a:off x="4778775" y="1852725"/>
            <a:ext cx="4338050" cy="186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605200"/>
            <a:ext cx="5011074" cy="186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1"/>
          <p:cNvPicPr preferRelativeResize="0"/>
          <p:nvPr/>
        </p:nvPicPr>
        <p:blipFill rotWithShape="1">
          <a:blip r:embed="rId4">
            <a:alphaModFix/>
          </a:blip>
          <a:srcRect b="46927" l="0" r="0" t="0"/>
          <a:stretch/>
        </p:blipFill>
        <p:spPr>
          <a:xfrm>
            <a:off x="-58075" y="3210625"/>
            <a:ext cx="4836850" cy="191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1"/>
          <p:cNvPicPr preferRelativeResize="0"/>
          <p:nvPr/>
        </p:nvPicPr>
        <p:blipFill rotWithShape="1">
          <a:blip r:embed="rId6">
            <a:alphaModFix/>
          </a:blip>
          <a:srcRect b="71283" l="0" r="0" t="0"/>
          <a:stretch/>
        </p:blipFill>
        <p:spPr>
          <a:xfrm>
            <a:off x="569324" y="2302249"/>
            <a:ext cx="3930649" cy="1056674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1"/>
          <p:cNvSpPr txBox="1"/>
          <p:nvPr/>
        </p:nvSpPr>
        <p:spPr>
          <a:xfrm>
            <a:off x="0" y="0"/>
            <a:ext cx="9144000" cy="4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60375" lIns="60375" spcFirstLastPara="1" rIns="60375" wrap="square" tIns="60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1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Análisis desde las series de tiempo  y variables </a:t>
            </a:r>
            <a:r>
              <a:rPr lang="es" sz="21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agroclimáticas</a:t>
            </a:r>
            <a:endParaRPr b="1" sz="2121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3" name="Google Shape;143;p21"/>
          <p:cNvSpPr txBox="1"/>
          <p:nvPr/>
        </p:nvSpPr>
        <p:spPr>
          <a:xfrm>
            <a:off x="5154050" y="1054575"/>
            <a:ext cx="4102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 u="sng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ALERTAS POR COMPORTAMIENTOS </a:t>
            </a:r>
            <a:r>
              <a:rPr b="1" lang="es" sz="1300" u="sng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ATÍPICOS</a:t>
            </a:r>
            <a:endParaRPr b="1" sz="1700" u="sng">
              <a:solidFill>
                <a:srgbClr val="FF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44" name="Google Shape;144;p21"/>
          <p:cNvCxnSpPr/>
          <p:nvPr/>
        </p:nvCxnSpPr>
        <p:spPr>
          <a:xfrm rot="10800000">
            <a:off x="2305425" y="478425"/>
            <a:ext cx="8700" cy="1468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145" name="Google Shape;145;p21"/>
          <p:cNvCxnSpPr/>
          <p:nvPr/>
        </p:nvCxnSpPr>
        <p:spPr>
          <a:xfrm rot="10800000">
            <a:off x="2211625" y="3358925"/>
            <a:ext cx="8700" cy="1468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146" name="Google Shape;146;p21"/>
          <p:cNvCxnSpPr/>
          <p:nvPr/>
        </p:nvCxnSpPr>
        <p:spPr>
          <a:xfrm rot="10800000">
            <a:off x="7507525" y="1946625"/>
            <a:ext cx="8700" cy="1468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lg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2"/>
          <p:cNvPicPr preferRelativeResize="0"/>
          <p:nvPr/>
        </p:nvPicPr>
        <p:blipFill rotWithShape="1">
          <a:blip r:embed="rId3">
            <a:alphaModFix/>
          </a:blip>
          <a:srcRect b="32158" l="0" r="0" t="33364"/>
          <a:stretch/>
        </p:blipFill>
        <p:spPr>
          <a:xfrm>
            <a:off x="8261682" y="4838152"/>
            <a:ext cx="855143" cy="294844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2"/>
          <p:cNvSpPr txBox="1"/>
          <p:nvPr/>
        </p:nvSpPr>
        <p:spPr>
          <a:xfrm>
            <a:off x="5698587" y="4818150"/>
            <a:ext cx="25860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375" lIns="60375" spcFirstLastPara="1" rIns="60375" wrap="square" tIns="60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21">
                <a:solidFill>
                  <a:srgbClr val="FF99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</a:t>
            </a:r>
            <a:r>
              <a:rPr lang="es" sz="12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gricultura más </a:t>
            </a:r>
            <a:r>
              <a:rPr b="1" lang="es" sz="1221">
                <a:solidFill>
                  <a:srgbClr val="FF99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</a:t>
            </a:r>
            <a:r>
              <a:rPr lang="es" sz="12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nteligente con</a:t>
            </a:r>
            <a:endParaRPr sz="1221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53" name="Google Shape;153;p22" title="intro_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049137"/>
            <a:ext cx="7792668" cy="3134563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2"/>
          <p:cNvSpPr txBox="1"/>
          <p:nvPr/>
        </p:nvSpPr>
        <p:spPr>
          <a:xfrm>
            <a:off x="0" y="0"/>
            <a:ext cx="9144000" cy="4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60375" lIns="60375" spcFirstLastPara="1" rIns="60375" wrap="square" tIns="60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1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Agro GeoFísica</a:t>
            </a:r>
            <a:r>
              <a:rPr lang="es" sz="21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-  realmente conoces tu suelo</a:t>
            </a:r>
            <a:endParaRPr b="1" sz="2121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5" name="Google Shape;155;p22"/>
          <p:cNvSpPr txBox="1"/>
          <p:nvPr/>
        </p:nvSpPr>
        <p:spPr>
          <a:xfrm>
            <a:off x="0" y="1147825"/>
            <a:ext cx="904500" cy="3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0375" lIns="60375" spcFirstLastPara="1" rIns="60375" wrap="square" tIns="60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2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DEM</a:t>
            </a:r>
            <a:endParaRPr b="1" sz="1421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6" name="Google Shape;156;p22"/>
          <p:cNvSpPr txBox="1"/>
          <p:nvPr/>
        </p:nvSpPr>
        <p:spPr>
          <a:xfrm>
            <a:off x="2470588" y="763875"/>
            <a:ext cx="3156300" cy="3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0375" lIns="60375" spcFirstLastPara="1" rIns="60375" wrap="square" tIns="60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2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Zonificación y muestreo </a:t>
            </a:r>
            <a:r>
              <a:rPr lang="es" sz="142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óptimo </a:t>
            </a:r>
            <a:endParaRPr sz="1421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7" name="Google Shape;157;p22"/>
          <p:cNvSpPr txBox="1"/>
          <p:nvPr/>
        </p:nvSpPr>
        <p:spPr>
          <a:xfrm>
            <a:off x="6784675" y="1104675"/>
            <a:ext cx="2800800" cy="3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0375" lIns="60375" spcFirstLastPara="1" rIns="60375" wrap="square" tIns="60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2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Análisis</a:t>
            </a:r>
            <a:r>
              <a:rPr lang="es" sz="142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covariables </a:t>
            </a:r>
            <a:endParaRPr b="1" sz="1421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8" name="Google Shape;158;p22"/>
          <p:cNvSpPr txBox="1"/>
          <p:nvPr/>
        </p:nvSpPr>
        <p:spPr>
          <a:xfrm>
            <a:off x="-27175" y="4329325"/>
            <a:ext cx="5963700" cy="6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60375" lIns="60375" spcFirstLastPara="1" rIns="60375" wrap="square" tIns="60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Permite </a:t>
            </a:r>
            <a:r>
              <a:rPr lang="es" sz="1800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identificar</a:t>
            </a:r>
            <a:r>
              <a:rPr lang="es" sz="1800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el lugar de </a:t>
            </a:r>
            <a:r>
              <a:rPr b="1" lang="es" sz="1800" u="sng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muestreo </a:t>
            </a:r>
            <a:r>
              <a:rPr b="1" lang="es" sz="1800" u="sng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más</a:t>
            </a:r>
            <a:r>
              <a:rPr b="1" lang="es" sz="1800" u="sng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b="1" lang="es" sz="1800" u="sng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óptimo</a:t>
            </a:r>
            <a:r>
              <a:rPr lang="es" sz="1800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</a:t>
            </a:r>
            <a:r>
              <a:rPr b="1" lang="es" sz="1800" u="sng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reduciendo costos</a:t>
            </a:r>
            <a:r>
              <a:rPr lang="es" sz="1800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y análisis innecesarios</a:t>
            </a:r>
            <a:endParaRPr b="1" sz="1800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23"/>
          <p:cNvPicPr preferRelativeResize="0"/>
          <p:nvPr/>
        </p:nvPicPr>
        <p:blipFill rotWithShape="1">
          <a:blip r:embed="rId3">
            <a:alphaModFix/>
          </a:blip>
          <a:srcRect b="32158" l="0" r="0" t="33364"/>
          <a:stretch/>
        </p:blipFill>
        <p:spPr>
          <a:xfrm>
            <a:off x="8261682" y="4838152"/>
            <a:ext cx="855143" cy="294844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3"/>
          <p:cNvSpPr txBox="1"/>
          <p:nvPr/>
        </p:nvSpPr>
        <p:spPr>
          <a:xfrm>
            <a:off x="5698587" y="4818150"/>
            <a:ext cx="25860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375" lIns="60375" spcFirstLastPara="1" rIns="60375" wrap="square" tIns="60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21">
                <a:solidFill>
                  <a:srgbClr val="FF99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</a:t>
            </a:r>
            <a:r>
              <a:rPr lang="es" sz="12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gricultura más </a:t>
            </a:r>
            <a:r>
              <a:rPr b="1" lang="es" sz="1221">
                <a:solidFill>
                  <a:srgbClr val="FF99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</a:t>
            </a:r>
            <a:r>
              <a:rPr lang="es" sz="12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nteligente con</a:t>
            </a:r>
            <a:endParaRPr sz="1221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65" name="Google Shape;16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7625" y="82075"/>
            <a:ext cx="8839201" cy="2897088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3"/>
          <p:cNvSpPr txBox="1"/>
          <p:nvPr/>
        </p:nvSpPr>
        <p:spPr>
          <a:xfrm>
            <a:off x="1151000" y="3112175"/>
            <a:ext cx="7238700" cy="12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60375" lIns="60375" spcFirstLastPara="1" rIns="60375" wrap="square" tIns="60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Permite identificar los lugares y acciones </a:t>
            </a:r>
            <a:r>
              <a:rPr lang="es" sz="1900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específicas</a:t>
            </a:r>
            <a:r>
              <a:rPr lang="es" sz="1900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 realizar en tu cultivo.</a:t>
            </a:r>
            <a:br>
              <a:rPr lang="es" sz="1900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s" sz="1900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b="1" lang="es" sz="1900">
                <a:solidFill>
                  <a:srgbClr val="FF99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 </a:t>
            </a:r>
            <a:r>
              <a:rPr b="1" lang="es" sz="1900">
                <a:solidFill>
                  <a:srgbClr val="FF99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arrojes</a:t>
            </a:r>
            <a:r>
              <a:rPr b="1" lang="es" sz="1900">
                <a:solidFill>
                  <a:srgbClr val="FF99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abono (dinero) </a:t>
            </a:r>
            <a:r>
              <a:rPr lang="es" sz="1900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 todo por igual</a:t>
            </a:r>
            <a:endParaRPr b="1" sz="1900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4"/>
          <p:cNvPicPr preferRelativeResize="0"/>
          <p:nvPr/>
        </p:nvPicPr>
        <p:blipFill rotWithShape="1">
          <a:blip r:embed="rId3">
            <a:alphaModFix/>
          </a:blip>
          <a:srcRect b="32158" l="0" r="0" t="33364"/>
          <a:stretch/>
        </p:blipFill>
        <p:spPr>
          <a:xfrm>
            <a:off x="8261682" y="4838152"/>
            <a:ext cx="855143" cy="294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4" title="image1-5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55900" y="619650"/>
            <a:ext cx="5488922" cy="4513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4"/>
          <p:cNvSpPr txBox="1"/>
          <p:nvPr/>
        </p:nvSpPr>
        <p:spPr>
          <a:xfrm>
            <a:off x="0" y="0"/>
            <a:ext cx="9144000" cy="4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60375" lIns="60375" spcFirstLastPara="1" rIns="60375" wrap="square" tIns="60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1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Zonas </a:t>
            </a:r>
            <a:r>
              <a:rPr lang="es" sz="21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críticas</a:t>
            </a:r>
            <a:r>
              <a:rPr lang="es" sz="21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s" sz="21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mortalidad</a:t>
            </a:r>
            <a:r>
              <a:rPr lang="es" sz="21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en </a:t>
            </a:r>
            <a:r>
              <a:rPr lang="es" sz="21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expansión</a:t>
            </a:r>
            <a:endParaRPr b="1" sz="2121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5"/>
          <p:cNvPicPr preferRelativeResize="0"/>
          <p:nvPr/>
        </p:nvPicPr>
        <p:blipFill rotWithShape="1">
          <a:blip r:embed="rId3">
            <a:alphaModFix/>
          </a:blip>
          <a:srcRect b="32158" l="0" r="0" t="33364"/>
          <a:stretch/>
        </p:blipFill>
        <p:spPr>
          <a:xfrm>
            <a:off x="8261682" y="4838152"/>
            <a:ext cx="855143" cy="294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29100" y="619650"/>
            <a:ext cx="6079206" cy="451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5"/>
          <p:cNvSpPr txBox="1"/>
          <p:nvPr/>
        </p:nvSpPr>
        <p:spPr>
          <a:xfrm>
            <a:off x="0" y="0"/>
            <a:ext cx="9144000" cy="4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60375" lIns="60375" spcFirstLastPara="1" rIns="60375" wrap="square" tIns="60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1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Evolución en el tiempo de zonas que merecen atención</a:t>
            </a:r>
            <a:endParaRPr sz="2121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6"/>
          <p:cNvPicPr preferRelativeResize="0"/>
          <p:nvPr/>
        </p:nvPicPr>
        <p:blipFill rotWithShape="1">
          <a:blip r:embed="rId3">
            <a:alphaModFix/>
          </a:blip>
          <a:srcRect b="32158" l="0" r="0" t="33364"/>
          <a:stretch/>
        </p:blipFill>
        <p:spPr>
          <a:xfrm>
            <a:off x="8261682" y="4838152"/>
            <a:ext cx="855143" cy="294844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6"/>
          <p:cNvSpPr txBox="1"/>
          <p:nvPr/>
        </p:nvSpPr>
        <p:spPr>
          <a:xfrm>
            <a:off x="5698587" y="4818150"/>
            <a:ext cx="25860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375" lIns="60375" spcFirstLastPara="1" rIns="60375" wrap="square" tIns="60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21">
                <a:solidFill>
                  <a:srgbClr val="FF99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</a:t>
            </a:r>
            <a:r>
              <a:rPr lang="es" sz="12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gricultura más </a:t>
            </a:r>
            <a:r>
              <a:rPr b="1" lang="es" sz="1221">
                <a:solidFill>
                  <a:srgbClr val="FF99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</a:t>
            </a:r>
            <a:r>
              <a:rPr lang="es" sz="12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nteligente con</a:t>
            </a:r>
            <a:endParaRPr sz="1221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87" name="Google Shape;187;p26"/>
          <p:cNvPicPr preferRelativeResize="0"/>
          <p:nvPr/>
        </p:nvPicPr>
        <p:blipFill rotWithShape="1">
          <a:blip r:embed="rId4">
            <a:alphaModFix/>
          </a:blip>
          <a:srcRect b="16419" l="0" r="0" t="15596"/>
          <a:stretch/>
        </p:blipFill>
        <p:spPr>
          <a:xfrm>
            <a:off x="600150" y="1542175"/>
            <a:ext cx="7737174" cy="3068499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6"/>
          <p:cNvSpPr txBox="1"/>
          <p:nvPr/>
        </p:nvSpPr>
        <p:spPr>
          <a:xfrm>
            <a:off x="0" y="0"/>
            <a:ext cx="9144000" cy="4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60375" lIns="60375" spcFirstLastPara="1" rIns="60375" wrap="square" tIns="60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1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La </a:t>
            </a:r>
            <a:r>
              <a:rPr lang="es" sz="21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importancia</a:t>
            </a:r>
            <a:r>
              <a:rPr lang="es" sz="21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las alertas y tendencias</a:t>
            </a:r>
            <a:endParaRPr sz="2121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7"/>
          <p:cNvPicPr preferRelativeResize="0"/>
          <p:nvPr/>
        </p:nvPicPr>
        <p:blipFill rotWithShape="1">
          <a:blip r:embed="rId3">
            <a:alphaModFix/>
          </a:blip>
          <a:srcRect b="32158" l="0" r="0" t="33364"/>
          <a:stretch/>
        </p:blipFill>
        <p:spPr>
          <a:xfrm>
            <a:off x="8261682" y="4838152"/>
            <a:ext cx="855143" cy="294844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7"/>
          <p:cNvSpPr txBox="1"/>
          <p:nvPr/>
        </p:nvSpPr>
        <p:spPr>
          <a:xfrm>
            <a:off x="5698587" y="4818150"/>
            <a:ext cx="25860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375" lIns="60375" spcFirstLastPara="1" rIns="60375" wrap="square" tIns="60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21">
                <a:solidFill>
                  <a:srgbClr val="FF99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</a:t>
            </a:r>
            <a:r>
              <a:rPr lang="es" sz="12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gricultura más </a:t>
            </a:r>
            <a:r>
              <a:rPr b="1" lang="es" sz="1221">
                <a:solidFill>
                  <a:srgbClr val="FF99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</a:t>
            </a:r>
            <a:r>
              <a:rPr lang="es" sz="12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nteligente con</a:t>
            </a:r>
            <a:endParaRPr sz="1221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5" name="Google Shape;195;p27"/>
          <p:cNvSpPr txBox="1"/>
          <p:nvPr/>
        </p:nvSpPr>
        <p:spPr>
          <a:xfrm>
            <a:off x="0" y="0"/>
            <a:ext cx="9144000" cy="4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60375" lIns="60375" spcFirstLastPara="1" rIns="60375" wrap="square" tIns="60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1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RECOMENDACIONES CRITICAS</a:t>
            </a:r>
            <a:endParaRPr sz="2121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6" name="Google Shape;196;p27"/>
          <p:cNvSpPr txBox="1"/>
          <p:nvPr/>
        </p:nvSpPr>
        <p:spPr>
          <a:xfrm>
            <a:off x="124850" y="1266900"/>
            <a:ext cx="63288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latin typeface="Century Gothic"/>
                <a:ea typeface="Century Gothic"/>
                <a:cs typeface="Century Gothic"/>
                <a:sym typeface="Century Gothic"/>
              </a:rPr>
              <a:t>1. </a:t>
            </a:r>
            <a:r>
              <a:rPr lang="es" sz="1800">
                <a:latin typeface="Century Gothic"/>
                <a:ea typeface="Century Gothic"/>
                <a:cs typeface="Century Gothic"/>
                <a:sym typeface="Century Gothic"/>
              </a:rPr>
              <a:t>Inspección</a:t>
            </a:r>
            <a:r>
              <a:rPr lang="es" sz="1800">
                <a:latin typeface="Century Gothic"/>
                <a:ea typeface="Century Gothic"/>
                <a:cs typeface="Century Gothic"/>
                <a:sym typeface="Century Gothic"/>
              </a:rPr>
              <a:t> fitosanitaria inmediata de los 5 focos de mortalidad identificados.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latin typeface="Century Gothic"/>
                <a:ea typeface="Century Gothic"/>
                <a:cs typeface="Century Gothic"/>
                <a:sym typeface="Century Gothic"/>
              </a:rPr>
              <a:t>2. Vuelo con dron multiespectral (&lt;5 cm/px) para conteo individual de palmas muertas.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latin typeface="Century Gothic"/>
                <a:ea typeface="Century Gothic"/>
                <a:cs typeface="Century Gothic"/>
                <a:sym typeface="Century Gothic"/>
              </a:rPr>
              <a:t>3. Manejo diferenciado por zona: </a:t>
            </a:r>
            <a:r>
              <a:rPr lang="es" sz="1800">
                <a:latin typeface="Century Gothic"/>
                <a:ea typeface="Century Gothic"/>
                <a:cs typeface="Century Gothic"/>
                <a:sym typeface="Century Gothic"/>
              </a:rPr>
              <a:t>fertilización</a:t>
            </a:r>
            <a:r>
              <a:rPr lang="es" sz="1800">
                <a:latin typeface="Century Gothic"/>
                <a:ea typeface="Century Gothic"/>
                <a:cs typeface="Century Gothic"/>
                <a:sym typeface="Century Gothic"/>
              </a:rPr>
              <a:t> reforzada KCl + kieserita priorizando la zona sur.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latin typeface="Century Gothic"/>
                <a:ea typeface="Century Gothic"/>
                <a:cs typeface="Century Gothic"/>
                <a:sym typeface="Century Gothic"/>
              </a:rPr>
              <a:t>4. Coberturas vivas y mulch de tusas para </a:t>
            </a:r>
            <a:r>
              <a:rPr lang="es" sz="1800">
                <a:latin typeface="Century Gothic"/>
                <a:ea typeface="Century Gothic"/>
                <a:cs typeface="Century Gothic"/>
                <a:sym typeface="Century Gothic"/>
              </a:rPr>
              <a:t>retención</a:t>
            </a:r>
            <a:r>
              <a:rPr lang="es" sz="1800"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s" sz="1800">
                <a:latin typeface="Century Gothic"/>
                <a:ea typeface="Century Gothic"/>
                <a:cs typeface="Century Gothic"/>
                <a:sym typeface="Century Gothic"/>
              </a:rPr>
              <a:t>hídrica</a:t>
            </a:r>
            <a:r>
              <a:rPr lang="es" sz="1800"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97" name="Google Shape;197;p27" title="pngeg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41525" y="539325"/>
            <a:ext cx="2586001" cy="3065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8"/>
          <p:cNvPicPr preferRelativeResize="0"/>
          <p:nvPr/>
        </p:nvPicPr>
        <p:blipFill rotWithShape="1">
          <a:blip r:embed="rId3">
            <a:alphaModFix/>
          </a:blip>
          <a:srcRect b="32158" l="0" r="0" t="33364"/>
          <a:stretch/>
        </p:blipFill>
        <p:spPr>
          <a:xfrm>
            <a:off x="8261682" y="4838152"/>
            <a:ext cx="855143" cy="294844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8"/>
          <p:cNvSpPr txBox="1"/>
          <p:nvPr/>
        </p:nvSpPr>
        <p:spPr>
          <a:xfrm>
            <a:off x="5698587" y="4818150"/>
            <a:ext cx="25860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375" lIns="60375" spcFirstLastPara="1" rIns="60375" wrap="square" tIns="60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21">
                <a:solidFill>
                  <a:srgbClr val="FF99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</a:t>
            </a:r>
            <a:r>
              <a:rPr lang="es" sz="12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gricultura más </a:t>
            </a:r>
            <a:r>
              <a:rPr b="1" lang="es" sz="1221">
                <a:solidFill>
                  <a:srgbClr val="FF99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</a:t>
            </a:r>
            <a:r>
              <a:rPr lang="es" sz="12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nteligente con</a:t>
            </a:r>
            <a:endParaRPr sz="1221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04" name="Google Shape;204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16826" cy="5322496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8"/>
          <p:cNvSpPr txBox="1"/>
          <p:nvPr/>
        </p:nvSpPr>
        <p:spPr>
          <a:xfrm>
            <a:off x="5329900" y="298950"/>
            <a:ext cx="3786900" cy="30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None/>
            </a:pPr>
            <a:r>
              <a:rPr b="1" lang="es" sz="1650">
                <a:solidFill>
                  <a:schemeClr val="lt1"/>
                </a:solidFill>
              </a:rPr>
              <a:t>https://bioagro.com.co/</a:t>
            </a:r>
            <a:endParaRPr b="1" sz="16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None/>
            </a:pPr>
            <a:r>
              <a:rPr b="1" lang="es" sz="1650">
                <a:solidFill>
                  <a:schemeClr val="lt1"/>
                </a:solidFill>
              </a:rPr>
              <a:t>info@bioagro.com.co</a:t>
            </a:r>
            <a:endParaRPr b="1" sz="16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None/>
            </a:pPr>
            <a:r>
              <a:rPr b="1" lang="es" sz="1650">
                <a:solidFill>
                  <a:schemeClr val="lt1"/>
                </a:solidFill>
              </a:rPr>
              <a:t>Efrain Laverde </a:t>
            </a:r>
            <a:r>
              <a:rPr lang="es" sz="1650">
                <a:solidFill>
                  <a:schemeClr val="lt1"/>
                </a:solidFill>
              </a:rPr>
              <a:t>+57 310 8834069</a:t>
            </a:r>
            <a:endParaRPr sz="16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None/>
            </a:pPr>
            <a:r>
              <a:rPr b="1" lang="es" sz="1650">
                <a:solidFill>
                  <a:schemeClr val="lt1"/>
                </a:solidFill>
              </a:rPr>
              <a:t>Nilson Delgado </a:t>
            </a:r>
            <a:r>
              <a:rPr lang="es" sz="1650">
                <a:solidFill>
                  <a:schemeClr val="lt1"/>
                </a:solidFill>
              </a:rPr>
              <a:t>+57 321 9496159</a:t>
            </a:r>
            <a:endParaRPr sz="16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3200"/>
              </a:spcBef>
              <a:spcAft>
                <a:spcPts val="3200"/>
              </a:spcAft>
              <a:buNone/>
            </a:pPr>
            <a:r>
              <a:rPr b="1" lang="es" sz="1650">
                <a:solidFill>
                  <a:schemeClr val="lt1"/>
                </a:solidFill>
              </a:rPr>
              <a:t>Ariolfo Camacho</a:t>
            </a:r>
            <a:r>
              <a:rPr lang="es" sz="1650">
                <a:solidFill>
                  <a:schemeClr val="lt1"/>
                </a:solidFill>
              </a:rPr>
              <a:t> +57 321 3496461</a:t>
            </a:r>
            <a:endParaRPr sz="1650">
              <a:solidFill>
                <a:schemeClr val="lt1"/>
              </a:solidFill>
            </a:endParaRPr>
          </a:p>
        </p:txBody>
      </p:sp>
      <p:sp>
        <p:nvSpPr>
          <p:cNvPr id="206" name="Google Shape;206;p28"/>
          <p:cNvSpPr txBox="1"/>
          <p:nvPr/>
        </p:nvSpPr>
        <p:spPr>
          <a:xfrm>
            <a:off x="1295404" y="0"/>
            <a:ext cx="30000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200"/>
              </a:spcBef>
              <a:spcAft>
                <a:spcPts val="3200"/>
              </a:spcAft>
              <a:buNone/>
            </a:pPr>
            <a:r>
              <a:rPr b="1" lang="es" sz="4650">
                <a:solidFill>
                  <a:srgbClr val="38761D"/>
                </a:solidFill>
              </a:rPr>
              <a:t>Gracias, </a:t>
            </a:r>
            <a:endParaRPr sz="44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