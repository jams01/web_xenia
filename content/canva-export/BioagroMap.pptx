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Oswald"/>
      <p:regular r:id="rId28"/>
      <p:bold r:id="rId29"/>
    </p:embeddedFont>
    <p:embeddedFont>
      <p:font typeface="Century Gothic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Oswald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bold.fntdata"/><Relationship Id="rId30" Type="http://schemas.openxmlformats.org/officeDocument/2006/relationships/font" Target="fonts/CenturyGothic-regular.fntdata"/><Relationship Id="rId11" Type="http://schemas.openxmlformats.org/officeDocument/2006/relationships/slide" Target="slides/slide6.xml"/><Relationship Id="rId33" Type="http://schemas.openxmlformats.org/officeDocument/2006/relationships/font" Target="fonts/CenturyGothic-boldItalic.fntdata"/><Relationship Id="rId10" Type="http://schemas.openxmlformats.org/officeDocument/2006/relationships/slide" Target="slides/slide5.xml"/><Relationship Id="rId32" Type="http://schemas.openxmlformats.org/officeDocument/2006/relationships/font" Target="fonts/CenturyGothic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7b510bb7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7b510bb7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3d692bb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3d692bb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3d692bb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3d692bb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3d692bbd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3d692bbd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3d692bbd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3d692bbd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3d692bbd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3d692bbd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7b510bb7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7b510bb7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7b510bb7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7b510bb7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8ba31592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8ba31592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8ba31592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8ba31592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c4796e5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8c4796e5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8ba31592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8ba31592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8c4796e5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8c4796e5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8c4796e5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8c4796e5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8c4796e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8c4796e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8c4796e5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8c4796e5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8c4796e5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8c4796e5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8c4796e5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8c4796e5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8c4796e5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8c4796e5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8c7a314f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8c7a314f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8c4796e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8c4796e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3a82b73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3a82b73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AHqFYj6SYMSlytdgyv8D5ZcxB1dflu63/view" TargetMode="External"/><Relationship Id="rId5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216013" y="931723"/>
            <a:ext cx="3371700" cy="2667000"/>
          </a:xfrm>
          <a:prstGeom prst="flowChartAlternateProcess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4751112" y="931723"/>
            <a:ext cx="2621700" cy="2667000"/>
          </a:xfrm>
          <a:prstGeom prst="flowChartAlternateProcess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intro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051" y="1138123"/>
            <a:ext cx="2533626" cy="2254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32158" l="0" r="0" t="33364"/>
          <a:stretch/>
        </p:blipFill>
        <p:spPr>
          <a:xfrm>
            <a:off x="58174" y="-28597"/>
            <a:ext cx="2352675" cy="8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252414" y="3265898"/>
            <a:ext cx="118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Cultivo</a:t>
            </a:r>
            <a:endParaRPr sz="1700">
              <a:solidFill>
                <a:srgbClr val="38761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191689" y="3265898"/>
            <a:ext cx="118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Suelo</a:t>
            </a:r>
            <a:endParaRPr sz="1700">
              <a:solidFill>
                <a:srgbClr val="38761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0" name="Google Shape;60;p13" title="intr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5993" y="931715"/>
            <a:ext cx="3277524" cy="242371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4329345" y="4728000"/>
            <a:ext cx="391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5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5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5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500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b="32158" l="0" r="0" t="33364"/>
          <a:stretch/>
        </p:blipFill>
        <p:spPr>
          <a:xfrm>
            <a:off x="7792482" y="4788327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827550" y="3673000"/>
            <a:ext cx="737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s" sz="20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XenIA</a:t>
            </a:r>
            <a:r>
              <a:rPr b="1" lang="es" sz="20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ayudará a agricultores del país o una región a monitorear cultivos y mejorar su productividad y a los entes públicos a gestionar </a:t>
            </a:r>
            <a:endParaRPr b="1" sz="2000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4514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665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8732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987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46"/>
            <a:ext cx="9143998" cy="5138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shape_graphi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7200" y="1698450"/>
            <a:ext cx="1105900" cy="13718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5997525" y="4818150"/>
            <a:ext cx="25860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21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A</a:t>
            </a:r>
            <a:r>
              <a:rPr lang="es" sz="132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gricultura más </a:t>
            </a:r>
            <a:r>
              <a:rPr b="1" lang="es" sz="1321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I</a:t>
            </a:r>
            <a:r>
              <a:rPr lang="es" sz="132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nteligente con</a:t>
            </a:r>
            <a:endParaRPr sz="1321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312969" y="2000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6048812" y="0"/>
            <a:ext cx="25860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21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A</a:t>
            </a:r>
            <a:r>
              <a:rPr lang="es" sz="1321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gricultura más </a:t>
            </a:r>
            <a:r>
              <a:rPr b="1" lang="es" sz="1321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I</a:t>
            </a:r>
            <a:r>
              <a:rPr lang="es" sz="1321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nteligente con</a:t>
            </a:r>
            <a:endParaRPr sz="1321">
              <a:solidFill>
                <a:srgbClr val="38761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0" y="0"/>
            <a:ext cx="45252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Entradas para los modelos de IA</a:t>
            </a:r>
            <a:endParaRPr b="1" sz="20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129600" y="623800"/>
            <a:ext cx="3448500" cy="47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b="1" lang="es" sz="1200">
                <a:latin typeface="Century Gothic"/>
                <a:ea typeface="Century Gothic"/>
                <a:cs typeface="Century Gothic"/>
                <a:sym typeface="Century Gothic"/>
              </a:rPr>
              <a:t>Imagen satelital Radar (Libre)</a:t>
            </a:r>
            <a:endParaRPr b="1"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Temporalidad: 15 </a:t>
            </a: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días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Cantidad:    </a:t>
            </a: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   l9 </a:t>
            </a: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imágenes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lang="es" sz="1200">
                <a:latin typeface="Century Gothic"/>
                <a:ea typeface="Century Gothic"/>
                <a:cs typeface="Century Gothic"/>
                <a:sym typeface="Century Gothic"/>
              </a:rPr>
              <a:t>Resolución espacial: 10 m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b="1"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Imagen satelital Óptica Sentinel 2 (Libre)</a:t>
            </a:r>
            <a:endParaRPr b="1"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Temporalidad: baja por nubes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Cantidad:        4 imágenes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Resolución espacial: 10 m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b="1"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Imagen satelital Óptica Multiespectral (Comercial) 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Temporalidad: mensual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Cantidad:        12 imágenes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Resolución espacial: 3.7 m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Resolución espectral: 8 bandas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b="1"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de elevación digital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❏"/>
            </a:pPr>
            <a:r>
              <a:rPr lang="e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 m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7" name="Google Shape;107;p20" title="pipel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5475" y="3252575"/>
            <a:ext cx="5593175" cy="17150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108" name="Google Shape;108;p20" title="image1-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8150" y="-1082750"/>
            <a:ext cx="2938923" cy="365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88857" y="-50373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0" y="0"/>
            <a:ext cx="45252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Dashboard Inteligente</a:t>
            </a:r>
            <a:endParaRPr sz="20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5" name="Google Shape;115;p21" title="Grabación de pantalla desde 26-05-26 17:07:45.webm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163" y="287084"/>
            <a:ext cx="8261673" cy="4569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 title="image1-26.png"/>
          <p:cNvPicPr preferRelativeResize="0"/>
          <p:nvPr/>
        </p:nvPicPr>
        <p:blipFill rotWithShape="1">
          <a:blip r:embed="rId3">
            <a:alphaModFix/>
          </a:blip>
          <a:srcRect b="3550" l="3097" r="3068" t="5665"/>
          <a:stretch/>
        </p:blipFill>
        <p:spPr>
          <a:xfrm>
            <a:off x="589088" y="567775"/>
            <a:ext cx="7965824" cy="456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 rotWithShape="1">
          <a:blip r:embed="rId4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0" y="0"/>
            <a:ext cx="7703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Histórico</a:t>
            </a:r>
            <a:r>
              <a:rPr lang="es" sz="20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Satelital 3.7metros   -   ene/2025 a mar/2026</a:t>
            </a:r>
            <a:endParaRPr sz="20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3756076" y="3783575"/>
            <a:ext cx="47478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-331532" lvl="0" marL="457200" rtl="0" algn="l">
              <a:spcBef>
                <a:spcPts val="0"/>
              </a:spcBef>
              <a:spcAft>
                <a:spcPts val="0"/>
              </a:spcAft>
              <a:buSzPts val="1621"/>
              <a:buFont typeface="Century Gothic"/>
              <a:buChar char="●"/>
            </a:pP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Evolución</a:t>
            </a: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temporal</a:t>
            </a:r>
            <a:r>
              <a:rPr b="1" lang="es" sz="16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 cultivo</a:t>
            </a:r>
            <a:endParaRPr sz="16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1532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21"/>
              <a:buFont typeface="Century Gothic"/>
              <a:buChar char="●"/>
            </a:pP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Identificación de focos de mortalidad</a:t>
            </a:r>
            <a:endParaRPr sz="16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1532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21"/>
              <a:buFont typeface="Century Gothic"/>
              <a:buChar char="●"/>
            </a:pP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Detalles informe detallado</a:t>
            </a:r>
            <a:endParaRPr sz="16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50" y="630150"/>
            <a:ext cx="7442660" cy="45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 rotWithShape="1">
          <a:blip r:embed="rId4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 revelan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más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10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tu cultivo - </a:t>
            </a:r>
            <a:r>
              <a:rPr b="1"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Vigor del cultivo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3149400" y="3880925"/>
            <a:ext cx="5882100" cy="95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/>
        </p:nvSpPr>
        <p:spPr>
          <a:xfrm>
            <a:off x="3214500" y="3832950"/>
            <a:ext cx="5751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FOCOS DE MORTALIDAD O ESTRÉS:</a:t>
            </a:r>
            <a:r>
              <a:rPr b="1" lang="es" sz="13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R_STRUCTURE expresa qué tan 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uniforme es la estructura del dosel del cultivo</a:t>
            </a: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valores altos = copas continuas y dosel denso; 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valores bajos = vacíos, 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plantas faltantes o zonas </a:t>
            </a: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donde hay 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é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 </a:t>
            </a: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moderado por 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baja 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densidad</a:t>
            </a:r>
            <a:r>
              <a:rPr b="1" lang="es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foliar</a:t>
            </a:r>
            <a:endParaRPr b="1" sz="1700" u="sng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 rotWithShape="1">
          <a:blip r:embed="rId5">
            <a:alphaModFix/>
          </a:blip>
          <a:srcRect b="77092" l="0" r="0" t="0"/>
          <a:stretch/>
        </p:blipFill>
        <p:spPr>
          <a:xfrm rot="-5400000">
            <a:off x="-1481450" y="3062426"/>
            <a:ext cx="3562524" cy="59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9650"/>
            <a:ext cx="7456432" cy="451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 rotWithShape="1">
          <a:blip r:embed="rId4">
            <a:alphaModFix/>
          </a:blip>
          <a:srcRect b="0" l="0" r="33603" t="38830"/>
          <a:stretch/>
        </p:blipFill>
        <p:spPr>
          <a:xfrm>
            <a:off x="5488200" y="3602650"/>
            <a:ext cx="3159324" cy="140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 rotWithShape="1">
          <a:blip r:embed="rId4">
            <a:alphaModFix/>
          </a:blip>
          <a:srcRect b="76111" l="0" r="17580" t="0"/>
          <a:stretch/>
        </p:blipFill>
        <p:spPr>
          <a:xfrm>
            <a:off x="714600" y="4640850"/>
            <a:ext cx="3523050" cy="4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Observado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través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las nubes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</a:t>
            </a:r>
            <a:r>
              <a:rPr b="1"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otra alternativa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50" y="629825"/>
            <a:ext cx="4358768" cy="262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Descubriendo la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heterogeneidad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en mi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cultivo    - Cluster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0" name="Google Shape;150;p25" title="image1-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0825" y="585875"/>
            <a:ext cx="4658176" cy="216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1445100" y="2818113"/>
            <a:ext cx="7698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Realmente</a:t>
            </a: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lo importante  -  </a:t>
            </a: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r>
              <a:rPr lang="es" sz="16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cruzado por funcionalidad</a:t>
            </a:r>
            <a:endParaRPr b="1" sz="16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40950" y="3256450"/>
            <a:ext cx="9062100" cy="1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49225" lvl="0" marL="90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Char char="●"/>
            </a:pPr>
            <a:r>
              <a:rPr b="1"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Vigor (NDVI, EVI, KNDVI, MSAVI2, MTVI2):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Separan palmas productivas (azul) de </a:t>
            </a:r>
            <a:r>
              <a:rPr lang="es" sz="10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palmas con fotosíntesis reducida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(naranja). 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49225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Char char="●"/>
            </a:pPr>
            <a:r>
              <a:rPr b="1" lang="es" sz="10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Clorofila </a:t>
            </a:r>
            <a:r>
              <a:rPr b="1"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(CIre, MCARI, NDRE, TGI):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 sz="10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grupo más revelador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El naranja en estos índices s</a:t>
            </a:r>
            <a:r>
              <a:rPr lang="es" sz="10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eñala deficiencia nutricional directa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— bajo contenido de clorofila implica </a:t>
            </a:r>
            <a:r>
              <a:rPr lang="es" sz="10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falta de N, Mg o Fe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MCARI y NDRE muestran patrones espaciales diferentes entre sí, lo que sugiere que capturan problemas nutricionales distintos.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49225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Char char="●"/>
            </a:pPr>
            <a:r>
              <a:rPr b="1"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Verdor (GIYI, VARI):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Patrón más fragmentado. Captan diferencias visuales de color foliar. Menos peso diagnóstico que los de clorofila.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49225" lvl="0" marL="9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Char char="●"/>
            </a:pPr>
            <a:r>
              <a:rPr b="1"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Estructura (R_structure):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Revela la estructura de dosel  y la degradaci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ón foliar</a:t>
            </a:r>
            <a:r>
              <a:rPr lang="e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clave está en dónde el naranja coincide entre grupos: si una zona es naranja en vigor + clorofila + estructura simultáneamente, </a:t>
            </a:r>
            <a:r>
              <a:rPr lang="es" sz="1300" u="sng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crítica.</a:t>
            </a:r>
            <a:r>
              <a:rPr lang="es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Si solo es naranja en un grupo, el problema es específico y corregible.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6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 rotWithShape="1">
          <a:blip r:embed="rId4">
            <a:alphaModFix/>
          </a:blip>
          <a:srcRect b="0" l="0" r="0" t="53254"/>
          <a:stretch/>
        </p:blipFill>
        <p:spPr>
          <a:xfrm>
            <a:off x="4778775" y="1852725"/>
            <a:ext cx="4338050" cy="18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05200"/>
            <a:ext cx="5011074" cy="18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 rotWithShape="1">
          <a:blip r:embed="rId4">
            <a:alphaModFix/>
          </a:blip>
          <a:srcRect b="46927" l="0" r="0" t="0"/>
          <a:stretch/>
        </p:blipFill>
        <p:spPr>
          <a:xfrm>
            <a:off x="-58075" y="3210625"/>
            <a:ext cx="4836850" cy="191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 rotWithShape="1">
          <a:blip r:embed="rId6">
            <a:alphaModFix/>
          </a:blip>
          <a:srcRect b="71283" l="0" r="0" t="0"/>
          <a:stretch/>
        </p:blipFill>
        <p:spPr>
          <a:xfrm>
            <a:off x="569324" y="2302249"/>
            <a:ext cx="3930649" cy="105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 desde las series de tiempo  y variables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agroclimáticas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5154050" y="1054575"/>
            <a:ext cx="4102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ALERTAS POR COMPORTAMIENTOS </a:t>
            </a:r>
            <a:r>
              <a:rPr b="1" lang="es" sz="1300" u="sng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ATÍPICOS</a:t>
            </a:r>
            <a:endParaRPr b="1" sz="1700" u="sng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5" name="Google Shape;165;p26"/>
          <p:cNvCxnSpPr/>
          <p:nvPr/>
        </p:nvCxnSpPr>
        <p:spPr>
          <a:xfrm rot="10800000">
            <a:off x="2305425" y="478425"/>
            <a:ext cx="8700" cy="146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6"/>
          <p:cNvCxnSpPr/>
          <p:nvPr/>
        </p:nvCxnSpPr>
        <p:spPr>
          <a:xfrm rot="10800000">
            <a:off x="2211625" y="3358925"/>
            <a:ext cx="8700" cy="146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6"/>
          <p:cNvCxnSpPr/>
          <p:nvPr/>
        </p:nvCxnSpPr>
        <p:spPr>
          <a:xfrm rot="10800000">
            <a:off x="7507525" y="1946625"/>
            <a:ext cx="8700" cy="146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7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4" name="Google Shape;174;p27" title="intro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49137"/>
            <a:ext cx="7792668" cy="313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Agro GeoFísica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-  realmente conoces tu suelo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0" y="1147825"/>
            <a:ext cx="904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2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</a:t>
            </a:r>
            <a:endParaRPr b="1" sz="142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2470588" y="763875"/>
            <a:ext cx="31563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2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Zonificación y muestreo </a:t>
            </a:r>
            <a:r>
              <a:rPr lang="es" sz="142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óptimo </a:t>
            </a:r>
            <a:endParaRPr sz="142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6784675" y="1104675"/>
            <a:ext cx="28008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2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r>
              <a:rPr lang="es" sz="142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covariables </a:t>
            </a:r>
            <a:endParaRPr b="1" sz="142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-27175" y="4329325"/>
            <a:ext cx="59637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</a:t>
            </a:r>
            <a:r>
              <a:rPr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identificar</a:t>
            </a:r>
            <a:r>
              <a:rPr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 lugar de </a:t>
            </a:r>
            <a:r>
              <a:rPr b="1" lang="es" sz="18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muestreo </a:t>
            </a:r>
            <a:r>
              <a:rPr b="1" lang="es" sz="18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más</a:t>
            </a:r>
            <a:r>
              <a:rPr b="1" lang="es" sz="18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s" sz="18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óptimo</a:t>
            </a:r>
            <a:r>
              <a:rPr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b="1" lang="es" sz="1800" u="sng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reduciendo costos</a:t>
            </a:r>
            <a:r>
              <a:rPr lang="es" sz="18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análisis innecesarios</a:t>
            </a:r>
            <a:endParaRPr b="1" sz="1800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8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8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6" name="Google Shape;18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625" y="82075"/>
            <a:ext cx="8839201" cy="289708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8"/>
          <p:cNvSpPr txBox="1"/>
          <p:nvPr/>
        </p:nvSpPr>
        <p:spPr>
          <a:xfrm>
            <a:off x="1151000" y="3112175"/>
            <a:ext cx="72387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identificar los lugares y acciones </a:t>
            </a:r>
            <a: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específicas</a:t>
            </a:r>
            <a: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realizar en tu cultivo.</a:t>
            </a:r>
            <a:b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" sz="19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</a:t>
            </a:r>
            <a:r>
              <a:rPr b="1" lang="es" sz="19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arrojes</a:t>
            </a:r>
            <a:r>
              <a:rPr b="1" lang="es" sz="19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abono (dinero) </a:t>
            </a:r>
            <a:r>
              <a:rPr lang="es" sz="1900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todo por igual</a:t>
            </a:r>
            <a:endParaRPr b="1" sz="1900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 title="image1-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5900" y="619650"/>
            <a:ext cx="5488922" cy="4513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Zonas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críticas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mortalidad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en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expansión</a:t>
            </a:r>
            <a:endParaRPr b="1"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0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9100" y="619650"/>
            <a:ext cx="6079206" cy="45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Evolución en el tiempo de zonas que merecen atención</a:t>
            </a:r>
            <a:endParaRPr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1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8" name="Google Shape;208;p31"/>
          <p:cNvPicPr preferRelativeResize="0"/>
          <p:nvPr/>
        </p:nvPicPr>
        <p:blipFill rotWithShape="1">
          <a:blip r:embed="rId4">
            <a:alphaModFix/>
          </a:blip>
          <a:srcRect b="16419" l="0" r="0" t="15596"/>
          <a:stretch/>
        </p:blipFill>
        <p:spPr>
          <a:xfrm>
            <a:off x="600150" y="1542175"/>
            <a:ext cx="7737174" cy="3068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importancia</a:t>
            </a: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las alertas y tendencias</a:t>
            </a:r>
            <a:endParaRPr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2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0" y="0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RECOMENDACIONES CRITICAS</a:t>
            </a:r>
            <a:endParaRPr sz="21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124850" y="1266900"/>
            <a:ext cx="6328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1. 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Inspección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 fitosanitaria inmediata de los 5 focos de mortalidad identificados.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2. Vuelo con dron multiespectral (&lt;5 cm/px) para conteo individual de palmas muertas.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3. Manejo diferenciado por zona: 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fertilización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 reforzada KCl + kieserita priorizando la zona sur.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4. Coberturas vivas y mulch de tusas para 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retención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hídrica</a:t>
            </a:r>
            <a:r>
              <a:rPr lang="es" sz="18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8" name="Google Shape;218;p32" title="pngeg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1525" y="539325"/>
            <a:ext cx="2586001" cy="306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3"/>
          <p:cNvPicPr preferRelativeResize="0"/>
          <p:nvPr/>
        </p:nvPicPr>
        <p:blipFill rotWithShape="1">
          <a:blip r:embed="rId3">
            <a:alphaModFix/>
          </a:blip>
          <a:srcRect b="32158" l="0" r="0" t="33364"/>
          <a:stretch/>
        </p:blipFill>
        <p:spPr>
          <a:xfrm>
            <a:off x="8261682" y="4838152"/>
            <a:ext cx="855143" cy="29484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3"/>
          <p:cNvSpPr txBox="1"/>
          <p:nvPr/>
        </p:nvSpPr>
        <p:spPr>
          <a:xfrm>
            <a:off x="5698587" y="4818150"/>
            <a:ext cx="2586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375" lIns="60375" spcFirstLastPara="1" rIns="60375" wrap="square" tIns="60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gricultura más </a:t>
            </a:r>
            <a:r>
              <a:rPr b="1" lang="es" sz="1221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s" sz="1221">
                <a:solidFill>
                  <a:srgbClr val="38761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nteligente con</a:t>
            </a:r>
            <a:endParaRPr sz="122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5" name="Google Shape;22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16826" cy="532249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 txBox="1"/>
          <p:nvPr/>
        </p:nvSpPr>
        <p:spPr>
          <a:xfrm>
            <a:off x="5329900" y="298950"/>
            <a:ext cx="3786900" cy="30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chemeClr val="lt1"/>
                </a:solidFill>
              </a:rPr>
              <a:t>https://bioagro.com.co/</a:t>
            </a:r>
            <a:endParaRPr b="1" sz="16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chemeClr val="lt1"/>
                </a:solidFill>
              </a:rPr>
              <a:t>info@bioagro.com.co</a:t>
            </a:r>
            <a:endParaRPr b="1" sz="16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chemeClr val="lt1"/>
                </a:solidFill>
              </a:rPr>
              <a:t>Efrain Laverde </a:t>
            </a:r>
            <a:r>
              <a:rPr lang="es" sz="1650">
                <a:solidFill>
                  <a:schemeClr val="lt1"/>
                </a:solidFill>
              </a:rPr>
              <a:t>+57 310 8834069</a:t>
            </a:r>
            <a:endParaRPr sz="16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chemeClr val="lt1"/>
                </a:solidFill>
              </a:rPr>
              <a:t>Nilson Delgado </a:t>
            </a:r>
            <a:r>
              <a:rPr lang="es" sz="1650">
                <a:solidFill>
                  <a:schemeClr val="lt1"/>
                </a:solidFill>
              </a:rPr>
              <a:t>+57 321 9496159</a:t>
            </a:r>
            <a:endParaRPr sz="16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None/>
            </a:pPr>
            <a:r>
              <a:rPr b="1" lang="es" sz="1650">
                <a:solidFill>
                  <a:schemeClr val="lt1"/>
                </a:solidFill>
              </a:rPr>
              <a:t>Ariolfo Camacho</a:t>
            </a:r>
            <a:r>
              <a:rPr lang="es" sz="1650">
                <a:solidFill>
                  <a:schemeClr val="lt1"/>
                </a:solidFill>
              </a:rPr>
              <a:t> +57 321 3496461</a:t>
            </a:r>
            <a:endParaRPr sz="1650">
              <a:solidFill>
                <a:schemeClr val="lt1"/>
              </a:solidFill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1295404" y="0"/>
            <a:ext cx="3000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200"/>
              </a:spcBef>
              <a:spcAft>
                <a:spcPts val="3200"/>
              </a:spcAft>
              <a:buNone/>
            </a:pPr>
            <a:r>
              <a:rPr b="1" lang="es" sz="4650">
                <a:solidFill>
                  <a:srgbClr val="38761D"/>
                </a:solidFill>
              </a:rPr>
              <a:t>Gracias, </a:t>
            </a:r>
            <a:endParaRPr sz="44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 rotWithShape="1">
          <a:blip r:embed="rId3">
            <a:alphaModFix/>
          </a:blip>
          <a:srcRect b="77092" l="0" r="0" t="0"/>
          <a:stretch/>
        </p:blipFill>
        <p:spPr>
          <a:xfrm>
            <a:off x="2272875" y="2868976"/>
            <a:ext cx="3562524" cy="59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